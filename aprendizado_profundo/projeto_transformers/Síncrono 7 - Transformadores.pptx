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79" r:id="rId11"/>
    <p:sldId id="280" r:id="rId12"/>
    <p:sldId id="275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429779b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1e429779b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957dd9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957dd9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0493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7672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9397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7194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549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ctrTitle"/>
          </p:nvPr>
        </p:nvSpPr>
        <p:spPr>
          <a:xfrm>
            <a:off x="1524000" y="2749350"/>
            <a:ext cx="9144000" cy="17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 smtClean="0"/>
              <a:t>Inteligência Artificial Aplicada</a:t>
            </a:r>
            <a:endParaRPr dirty="0"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1524000" y="2088868"/>
            <a:ext cx="9144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4600"/>
              <a:t>Pós-graduação em</a:t>
            </a:r>
            <a:endParaRPr sz="4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 err="1" smtClean="0"/>
              <a:t>Deep</a:t>
            </a:r>
            <a:r>
              <a:rPr lang="pt-BR" dirty="0" smtClean="0"/>
              <a:t> Learning</a:t>
            </a:r>
            <a:endParaRPr dirty="0"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Problema </a:t>
            </a: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pt-BR" dirty="0" smtClean="0"/>
              <a:t>Transformadores no setor elétrico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811725" y="185950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500" dirty="0"/>
              <a:t>Problema - </a:t>
            </a:r>
            <a:r>
              <a:rPr lang="pt-BR" sz="3500" dirty="0" smtClean="0"/>
              <a:t>Transformadores</a:t>
            </a:r>
            <a:endParaRPr sz="35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470" y="2064190"/>
            <a:ext cx="4116228" cy="308048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235" y="2634558"/>
            <a:ext cx="3616746" cy="2036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500" dirty="0"/>
              <a:t>Problema  - </a:t>
            </a:r>
            <a:r>
              <a:rPr lang="pt-BR" sz="3500" dirty="0" smtClean="0"/>
              <a:t>Transformadores</a:t>
            </a:r>
            <a:endParaRPr sz="3500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Os transformadores são componentes críticos no sistema elétrico, responsáveis por garantir o fornecimento seguro e estável de energia. A falha em um transformador pode causar interrupções significativas, danos a equipamentos e custos elevados de manutenção</a:t>
            </a:r>
            <a:r>
              <a:rPr lang="pt-BR" dirty="0" smtClean="0"/>
              <a:t>.</a:t>
            </a:r>
          </a:p>
          <a:p>
            <a:r>
              <a:rPr lang="pt-BR" dirty="0" smtClean="0"/>
              <a:t>A </a:t>
            </a:r>
            <a:r>
              <a:rPr lang="pt-BR" dirty="0"/>
              <a:t>temperatura do óleo é um dos principais indicadores de saúde do transformador, refletindo a eficiência térmica e o nível de carga aplicado ao sistema. </a:t>
            </a:r>
            <a:endParaRPr lang="pt-BR" dirty="0" smtClean="0"/>
          </a:p>
          <a:p>
            <a:r>
              <a:rPr lang="pt-BR" dirty="0" smtClean="0"/>
              <a:t>Entretanto</a:t>
            </a:r>
            <a:r>
              <a:rPr lang="pt-BR" dirty="0"/>
              <a:t>, prever o comportamento futuro dessa temperatura e identificar situações anômalas é um grande desafio, pois os dados são influenciados por múltiplas variáveis </a:t>
            </a:r>
            <a:r>
              <a:rPr lang="pt-BR" dirty="0" smtClean="0"/>
              <a:t>externas.</a:t>
            </a:r>
          </a:p>
          <a:p>
            <a:r>
              <a:rPr lang="pt-BR" dirty="0" smtClean="0"/>
              <a:t>Para </a:t>
            </a:r>
            <a:r>
              <a:rPr lang="pt-BR" dirty="0"/>
              <a:t>este desafio, você trabalhará com o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smtClean="0"/>
              <a:t>“transformadores.csv”, </a:t>
            </a:r>
            <a:r>
              <a:rPr lang="pt-BR" dirty="0"/>
              <a:t>que contém medições reais de cargas e temperatura do óleo de transformadores coletadas a cada hora, ao longo de dois anos. </a:t>
            </a:r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objetivo é aplicar técnicas de aprendizado profundo (</a:t>
            </a:r>
            <a:r>
              <a:rPr lang="pt-BR" dirty="0" err="1"/>
              <a:t>Deep</a:t>
            </a:r>
            <a:r>
              <a:rPr lang="pt-BR" dirty="0"/>
              <a:t> Learning) para detecção de anomalias, previsão temporal e classificação de condições operacionais.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sz="3500" dirty="0"/>
              <a:t>Problema  - Transformadores</a:t>
            </a:r>
            <a:endParaRPr sz="3500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Objetivo:</a:t>
            </a:r>
            <a:r>
              <a:rPr lang="pt-BR" sz="2000" dirty="0"/>
              <a:t> Detectar comportamentos anormais nos dados operacionais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Descrição:</a:t>
            </a:r>
            <a:r>
              <a:rPr lang="pt-BR" sz="2000" dirty="0" smtClean="0"/>
              <a:t> Utilize </a:t>
            </a:r>
            <a:r>
              <a:rPr lang="pt-BR" sz="2000" dirty="0"/>
              <a:t>um </a:t>
            </a:r>
            <a:r>
              <a:rPr lang="pt-BR" sz="2000" dirty="0" err="1"/>
              <a:t>Autoencoder</a:t>
            </a:r>
            <a:r>
              <a:rPr lang="pt-BR" sz="2000" dirty="0"/>
              <a:t> denso para reconstruir as entradas e calcular o erro de reconstrução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Defina </a:t>
            </a:r>
            <a:r>
              <a:rPr lang="pt-BR" sz="2000" dirty="0"/>
              <a:t>um limiar (</a:t>
            </a:r>
            <a:r>
              <a:rPr lang="pt-BR" sz="2000" dirty="0" err="1"/>
              <a:t>threshold</a:t>
            </a:r>
            <a:r>
              <a:rPr lang="pt-BR" sz="2000" dirty="0"/>
              <a:t>) para identificar anomalias, por exemplo, usando o percentil 99 do erro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Marque </a:t>
            </a:r>
            <a:r>
              <a:rPr lang="pt-BR" sz="2000" dirty="0"/>
              <a:t>as amostras anômalas e visualize o comportamento temporal do erro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Entrada</a:t>
            </a:r>
            <a:r>
              <a:rPr lang="pt-BR" sz="2000" b="1" dirty="0"/>
              <a:t>: </a:t>
            </a:r>
            <a:r>
              <a:rPr lang="pt-BR" sz="2000" dirty="0"/>
              <a:t>Todas as </a:t>
            </a:r>
            <a:r>
              <a:rPr lang="pt-BR" sz="2000" dirty="0" err="1"/>
              <a:t>features</a:t>
            </a:r>
            <a:r>
              <a:rPr lang="pt-BR" sz="2000" dirty="0"/>
              <a:t> numéricas, exceto a variável class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Saída:</a:t>
            </a:r>
            <a:r>
              <a:rPr lang="pt-BR" sz="2000" dirty="0" smtClean="0"/>
              <a:t> Gráficos com as anomalias em vermelho, decida se será necessário removê-las ou não.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6392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sz="3500" dirty="0"/>
              <a:t>Detecção de Anomalias (</a:t>
            </a:r>
            <a:r>
              <a:rPr lang="pt-BR" sz="3500" dirty="0" err="1"/>
              <a:t>Autoencoder</a:t>
            </a:r>
            <a:r>
              <a:rPr lang="pt-BR" sz="3500" dirty="0"/>
              <a:t>)</a:t>
            </a:r>
            <a:endParaRPr sz="3500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Objetivo:</a:t>
            </a:r>
            <a:r>
              <a:rPr lang="pt-BR" sz="2000" dirty="0"/>
              <a:t> Detectar comportamentos anormais nos dados operacionais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Descrição:</a:t>
            </a:r>
            <a:r>
              <a:rPr lang="pt-BR" sz="2000" dirty="0" smtClean="0"/>
              <a:t> Utilize </a:t>
            </a:r>
            <a:r>
              <a:rPr lang="pt-BR" sz="2000" dirty="0"/>
              <a:t>um </a:t>
            </a:r>
            <a:r>
              <a:rPr lang="pt-BR" sz="2000" dirty="0" err="1"/>
              <a:t>Autoencoder</a:t>
            </a:r>
            <a:r>
              <a:rPr lang="pt-BR" sz="2000" dirty="0"/>
              <a:t> denso para reconstruir as entradas e calcular o erro de reconstrução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Defina </a:t>
            </a:r>
            <a:r>
              <a:rPr lang="pt-BR" sz="2000" dirty="0"/>
              <a:t>um limiar (</a:t>
            </a:r>
            <a:r>
              <a:rPr lang="pt-BR" sz="2000" dirty="0" err="1"/>
              <a:t>threshold</a:t>
            </a:r>
            <a:r>
              <a:rPr lang="pt-BR" sz="2000" dirty="0"/>
              <a:t>) para identificar anomalias, por exemplo, usando o percentil 99 do erro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Marque </a:t>
            </a:r>
            <a:r>
              <a:rPr lang="pt-BR" sz="2000" dirty="0"/>
              <a:t>as amostras anômalas e visualize o comportamento temporal do erro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Entrada</a:t>
            </a:r>
            <a:r>
              <a:rPr lang="pt-BR" sz="2000" b="1" dirty="0"/>
              <a:t>: </a:t>
            </a:r>
            <a:r>
              <a:rPr lang="pt-BR" sz="2000" dirty="0"/>
              <a:t>Todas as </a:t>
            </a:r>
            <a:r>
              <a:rPr lang="pt-BR" sz="2000" dirty="0" err="1"/>
              <a:t>features</a:t>
            </a:r>
            <a:r>
              <a:rPr lang="pt-BR" sz="2000" dirty="0"/>
              <a:t> numéricas, exceto a variável class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Saída:</a:t>
            </a:r>
            <a:r>
              <a:rPr lang="pt-BR" sz="2000" dirty="0" smtClean="0"/>
              <a:t> Gráficos com as anomalias em vermelho, decida se será necessário removê-las ou não.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8391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sz="3500" dirty="0"/>
              <a:t>Predição Multivariada (LSTM)</a:t>
            </a:r>
            <a:endParaRPr sz="3500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Objetivo</a:t>
            </a:r>
            <a:r>
              <a:rPr lang="pt-BR" sz="2000" dirty="0"/>
              <a:t>: Prever a temperatura futura do óleo (OT) a partir do histórico das demais variáveis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Descrição: </a:t>
            </a:r>
            <a:r>
              <a:rPr lang="pt-BR" sz="2000" dirty="0" smtClean="0"/>
              <a:t>Use </a:t>
            </a:r>
            <a:r>
              <a:rPr lang="pt-BR" sz="2000" dirty="0"/>
              <a:t>uma LSTM multivariada com janelas deslizantes de tempo (</a:t>
            </a:r>
            <a:r>
              <a:rPr lang="pt-BR" sz="2000" dirty="0" err="1"/>
              <a:t>ex</a:t>
            </a:r>
            <a:r>
              <a:rPr lang="pt-BR" sz="2000" dirty="0"/>
              <a:t>: 24 passos passados</a:t>
            </a:r>
            <a:r>
              <a:rPr lang="pt-BR" sz="2000" dirty="0" smtClean="0"/>
              <a:t>).</a:t>
            </a:r>
          </a:p>
          <a:p>
            <a:r>
              <a:rPr lang="pt-BR" sz="2000" dirty="0" smtClean="0"/>
              <a:t>Preveja </a:t>
            </a:r>
            <a:r>
              <a:rPr lang="pt-BR" sz="2000" dirty="0"/>
              <a:t>os próximos 4 passos da temperatura do óleo (OT</a:t>
            </a:r>
            <a:r>
              <a:rPr lang="pt-BR" sz="2000" dirty="0" smtClean="0"/>
              <a:t>).</a:t>
            </a:r>
          </a:p>
          <a:p>
            <a:r>
              <a:rPr lang="pt-BR" sz="2000" dirty="0" smtClean="0"/>
              <a:t>Avalie </a:t>
            </a:r>
            <a:r>
              <a:rPr lang="pt-BR" sz="2000" dirty="0"/>
              <a:t>a qualidade das previsões por meio de gráficos comparativos entre valores reais e previstos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Entrada</a:t>
            </a:r>
            <a:r>
              <a:rPr lang="pt-BR" sz="2000" b="1" dirty="0"/>
              <a:t>: </a:t>
            </a:r>
            <a:r>
              <a:rPr lang="pt-BR" sz="2000" dirty="0"/>
              <a:t>Todas as </a:t>
            </a:r>
            <a:r>
              <a:rPr lang="pt-BR" sz="2000" dirty="0" err="1"/>
              <a:t>features</a:t>
            </a:r>
            <a:r>
              <a:rPr lang="pt-BR" sz="2000" dirty="0"/>
              <a:t> numéricas, exceto class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Saída</a:t>
            </a:r>
            <a:r>
              <a:rPr lang="pt-BR" sz="2000" dirty="0"/>
              <a:t>: Valores previstos de OT para os próximos 4 instantes.</a:t>
            </a:r>
          </a:p>
        </p:txBody>
      </p:sp>
    </p:spTree>
    <p:extLst>
      <p:ext uri="{BB962C8B-B14F-4D97-AF65-F5344CB8AC3E}">
        <p14:creationId xmlns:p14="http://schemas.microsoft.com/office/powerpoint/2010/main" val="418308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sz="3500" dirty="0"/>
              <a:t>Classificação de Condição Operacional </a:t>
            </a:r>
            <a:r>
              <a:rPr lang="pt-BR" sz="3500" dirty="0" smtClean="0"/>
              <a:t>(</a:t>
            </a:r>
            <a:r>
              <a:rPr lang="pt-BR" sz="3500" dirty="0" err="1" smtClean="0"/>
              <a:t>Deep</a:t>
            </a:r>
            <a:r>
              <a:rPr lang="pt-BR" sz="3500" dirty="0" smtClean="0"/>
              <a:t> MLP</a:t>
            </a:r>
            <a:r>
              <a:rPr lang="pt-BR" sz="3500" dirty="0"/>
              <a:t>)</a:t>
            </a:r>
            <a:endParaRPr sz="3500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Objetivo: </a:t>
            </a:r>
            <a:r>
              <a:rPr lang="pt-BR" sz="2000" dirty="0"/>
              <a:t>Classificar o estado operacional do transformador em condição normal (0) ou falha/potencial risco (1</a:t>
            </a:r>
            <a:r>
              <a:rPr lang="pt-BR" sz="2000" dirty="0" smtClean="0"/>
              <a:t>).</a:t>
            </a:r>
          </a:p>
          <a:p>
            <a:r>
              <a:rPr lang="pt-BR" sz="2000" b="1" dirty="0" smtClean="0"/>
              <a:t>Descrição: </a:t>
            </a:r>
            <a:r>
              <a:rPr lang="pt-BR" sz="2000" dirty="0" smtClean="0"/>
              <a:t>Use </a:t>
            </a:r>
            <a:r>
              <a:rPr lang="pt-BR" sz="2000" dirty="0"/>
              <a:t>um </a:t>
            </a:r>
            <a:r>
              <a:rPr lang="pt-BR" sz="2000" dirty="0" err="1"/>
              <a:t>perceptron</a:t>
            </a:r>
            <a:r>
              <a:rPr lang="pt-BR" sz="2000" dirty="0"/>
              <a:t> </a:t>
            </a:r>
            <a:r>
              <a:rPr lang="pt-BR" sz="2000" dirty="0" smtClean="0"/>
              <a:t>multicamadas profundo (</a:t>
            </a:r>
            <a:r>
              <a:rPr lang="pt-BR" sz="2000" dirty="0" err="1" smtClean="0"/>
              <a:t>Deep</a:t>
            </a:r>
            <a:r>
              <a:rPr lang="pt-BR" sz="2000" dirty="0" smtClean="0"/>
              <a:t> MLP</a:t>
            </a:r>
            <a:r>
              <a:rPr lang="pt-BR" sz="2000" dirty="0"/>
              <a:t>) com camadas densas e </a:t>
            </a:r>
            <a:r>
              <a:rPr lang="pt-BR" sz="2000" dirty="0" err="1"/>
              <a:t>dropout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Treine </a:t>
            </a:r>
            <a:r>
              <a:rPr lang="pt-BR" sz="2000" dirty="0"/>
              <a:t>o modelo com todas as variáveis numéricas como entrada e a coluna </a:t>
            </a:r>
            <a:r>
              <a:rPr lang="pt-BR" sz="2000" dirty="0" err="1"/>
              <a:t>class</a:t>
            </a:r>
            <a:r>
              <a:rPr lang="pt-BR" sz="2000" dirty="0"/>
              <a:t> como rótulo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Gere </a:t>
            </a:r>
            <a:r>
              <a:rPr lang="pt-BR" sz="2000" dirty="0"/>
              <a:t>um relatório de classificação (acurácia, precisão, recall e F1-score</a:t>
            </a:r>
            <a:r>
              <a:rPr lang="pt-BR" sz="2000" dirty="0" smtClean="0"/>
              <a:t>).</a:t>
            </a:r>
          </a:p>
          <a:p>
            <a:r>
              <a:rPr lang="pt-BR" sz="2000" b="1" dirty="0" smtClean="0"/>
              <a:t>Entrada</a:t>
            </a:r>
            <a:r>
              <a:rPr lang="pt-BR" sz="2000" b="1" dirty="0"/>
              <a:t>: </a:t>
            </a:r>
            <a:r>
              <a:rPr lang="pt-BR" sz="2000" dirty="0"/>
              <a:t>Todas as </a:t>
            </a:r>
            <a:r>
              <a:rPr lang="pt-BR" sz="2000" dirty="0" err="1"/>
              <a:t>features</a:t>
            </a:r>
            <a:r>
              <a:rPr lang="pt-BR" sz="2000" dirty="0"/>
              <a:t> numéricas</a:t>
            </a:r>
            <a:r>
              <a:rPr lang="pt-BR" sz="2000" dirty="0" smtClean="0"/>
              <a:t>.</a:t>
            </a:r>
          </a:p>
          <a:p>
            <a:r>
              <a:rPr lang="pt-BR" sz="2000" b="1" dirty="0" smtClean="0"/>
              <a:t>Saída</a:t>
            </a:r>
            <a:r>
              <a:rPr lang="pt-BR" sz="2000" b="1" dirty="0"/>
              <a:t>: </a:t>
            </a:r>
            <a:r>
              <a:rPr lang="pt-BR" sz="2000" dirty="0"/>
              <a:t>Predição binária (0 = normal, 1 = falha).</a:t>
            </a:r>
          </a:p>
        </p:txBody>
      </p:sp>
    </p:spTree>
    <p:extLst>
      <p:ext uri="{BB962C8B-B14F-4D97-AF65-F5344CB8AC3E}">
        <p14:creationId xmlns:p14="http://schemas.microsoft.com/office/powerpoint/2010/main" val="384519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sz="3600" dirty="0"/>
              <a:t>Dados</a:t>
            </a:r>
            <a:endParaRPr sz="3500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63349"/>
              </p:ext>
            </p:extLst>
          </p:nvPr>
        </p:nvGraphicFramePr>
        <p:xfrm>
          <a:off x="1290873" y="2533124"/>
          <a:ext cx="10515600" cy="15240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514499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66442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Coluna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90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Data/hora da medição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58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HUFL, HULL, MUFL, MULL, LUFL, LULL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Cargas elétricas em diferentes regiões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660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Temperatura do óleo do transformador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03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Indicador binário de condição (0 = normal, 1 = falha)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547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2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239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5745</a:t>
            </a:r>
            <a:endParaRPr/>
          </a:p>
        </p:txBody>
      </p:sp>
      <p:pic>
        <p:nvPicPr>
          <p:cNvPr id="197" name="Google Shape;197;p32" descr="Desenho de um círcul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Rodovia SC-401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3730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Bairro S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aco Grande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Florianópolis/SC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597</Words>
  <Application>Microsoft Office PowerPoint</Application>
  <PresentationFormat>Widescreen</PresentationFormat>
  <Paragraphs>53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Calibri</vt:lpstr>
      <vt:lpstr>Arial</vt:lpstr>
      <vt:lpstr>Tema do Office</vt:lpstr>
      <vt:lpstr>Apresentação do PowerPoint</vt:lpstr>
      <vt:lpstr>Inteligência Artificial Aplicada</vt:lpstr>
      <vt:lpstr>Deep Learning</vt:lpstr>
      <vt:lpstr>Problema </vt:lpstr>
      <vt:lpstr>Problema - Transformadores</vt:lpstr>
      <vt:lpstr>Problema  - Transformadores</vt:lpstr>
      <vt:lpstr>Problema  - Transformadores</vt:lpstr>
      <vt:lpstr>Detecção de Anomalias (Autoencoder)</vt:lpstr>
      <vt:lpstr>Predição Multivariada (LSTM)</vt:lpstr>
      <vt:lpstr>Classificação de Condição Operacional (Deep MLP)</vt:lpstr>
      <vt:lpstr>Dados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GIANCARLO MARCHESINI</dc:creator>
  <cp:lastModifiedBy>GIANCARLO MARCHESINI</cp:lastModifiedBy>
  <cp:revision>9</cp:revision>
  <dcterms:modified xsi:type="dcterms:W3CDTF">2025-11-10T16:20:17Z</dcterms:modified>
</cp:coreProperties>
</file>