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FD75BD-42E2-437A-BFC7-040094AF0097}" v="3" dt="2026-04-28T13:36:50.6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 Antonio Miranda" userId="f7d38ebe-8a06-4d3b-8a19-102c864155b8" providerId="ADAL" clId="{85A610F8-147C-4D8B-A244-6EDEA7B5954F}"/>
    <pc:docChg chg="undo custSel mod modSld">
      <pc:chgData name="Marco Antonio Miranda" userId="f7d38ebe-8a06-4d3b-8a19-102c864155b8" providerId="ADAL" clId="{85A610F8-147C-4D8B-A244-6EDEA7B5954F}" dt="2026-04-28T13:39:05.348" v="51" actId="478"/>
      <pc:docMkLst>
        <pc:docMk/>
      </pc:docMkLst>
      <pc:sldChg chg="delSp modSp mod setBg">
        <pc:chgData name="Marco Antonio Miranda" userId="f7d38ebe-8a06-4d3b-8a19-102c864155b8" providerId="ADAL" clId="{85A610F8-147C-4D8B-A244-6EDEA7B5954F}" dt="2026-04-28T13:39:05.348" v="51" actId="478"/>
        <pc:sldMkLst>
          <pc:docMk/>
          <pc:sldMk cId="0" sldId="256"/>
        </pc:sldMkLst>
        <pc:spChg chg="del mod">
          <ac:chgData name="Marco Antonio Miranda" userId="f7d38ebe-8a06-4d3b-8a19-102c864155b8" providerId="ADAL" clId="{85A610F8-147C-4D8B-A244-6EDEA7B5954F}" dt="2026-04-28T13:38:26.658" v="45" actId="478"/>
          <ac:spMkLst>
            <pc:docMk/>
            <pc:sldMk cId="0" sldId="256"/>
            <ac:spMk id="3" creationId="{00000000-0000-0000-0000-000000000000}"/>
          </ac:spMkLst>
        </pc:spChg>
        <pc:spChg chg="mod">
          <ac:chgData name="Marco Antonio Miranda" userId="f7d38ebe-8a06-4d3b-8a19-102c864155b8" providerId="ADAL" clId="{85A610F8-147C-4D8B-A244-6EDEA7B5954F}" dt="2026-04-28T13:38:48.523" v="47" actId="1076"/>
          <ac:spMkLst>
            <pc:docMk/>
            <pc:sldMk cId="0" sldId="256"/>
            <ac:spMk id="5" creationId="{00000000-0000-0000-0000-000000000000}"/>
          </ac:spMkLst>
        </pc:spChg>
        <pc:spChg chg="mod">
          <ac:chgData name="Marco Antonio Miranda" userId="f7d38ebe-8a06-4d3b-8a19-102c864155b8" providerId="ADAL" clId="{85A610F8-147C-4D8B-A244-6EDEA7B5954F}" dt="2026-04-28T13:38:52.632" v="48" actId="1076"/>
          <ac:spMkLst>
            <pc:docMk/>
            <pc:sldMk cId="0" sldId="256"/>
            <ac:spMk id="6" creationId="{00000000-0000-0000-0000-000000000000}"/>
          </ac:spMkLst>
        </pc:spChg>
        <pc:spChg chg="mod">
          <ac:chgData name="Marco Antonio Miranda" userId="f7d38ebe-8a06-4d3b-8a19-102c864155b8" providerId="ADAL" clId="{85A610F8-147C-4D8B-A244-6EDEA7B5954F}" dt="2026-04-28T13:38:56.952" v="49" actId="1076"/>
          <ac:spMkLst>
            <pc:docMk/>
            <pc:sldMk cId="0" sldId="256"/>
            <ac:spMk id="7" creationId="{00000000-0000-0000-0000-000000000000}"/>
          </ac:spMkLst>
        </pc:spChg>
        <pc:spChg chg="del">
          <ac:chgData name="Marco Antonio Miranda" userId="f7d38ebe-8a06-4d3b-8a19-102c864155b8" providerId="ADAL" clId="{85A610F8-147C-4D8B-A244-6EDEA7B5954F}" dt="2026-04-28T13:37:41.208" v="36" actId="478"/>
          <ac:spMkLst>
            <pc:docMk/>
            <pc:sldMk cId="0" sldId="256"/>
            <ac:spMk id="8" creationId="{00000000-0000-0000-0000-000000000000}"/>
          </ac:spMkLst>
        </pc:spChg>
        <pc:spChg chg="del mod">
          <ac:chgData name="Marco Antonio Miranda" userId="f7d38ebe-8a06-4d3b-8a19-102c864155b8" providerId="ADAL" clId="{85A610F8-147C-4D8B-A244-6EDEA7B5954F}" dt="2026-04-28T13:39:05.348" v="51" actId="478"/>
          <ac:spMkLst>
            <pc:docMk/>
            <pc:sldMk cId="0" sldId="256"/>
            <ac:spMk id="10" creationId="{00000000-0000-0000-0000-000000000000}"/>
          </ac:spMkLst>
        </pc:spChg>
        <pc:picChg chg="del mod">
          <ac:chgData name="Marco Antonio Miranda" userId="f7d38ebe-8a06-4d3b-8a19-102c864155b8" providerId="ADAL" clId="{85A610F8-147C-4D8B-A244-6EDEA7B5954F}" dt="2026-04-28T13:38:35.742" v="46" actId="478"/>
          <ac:picMkLst>
            <pc:docMk/>
            <pc:sldMk cId="0" sldId="256"/>
            <ac:picMk id="2" creationId="{00000000-0000-0000-0000-000000000000}"/>
          </ac:picMkLst>
        </pc:picChg>
      </pc:sldChg>
      <pc:sldChg chg="modSp mod">
        <pc:chgData name="Marco Antonio Miranda" userId="f7d38ebe-8a06-4d3b-8a19-102c864155b8" providerId="ADAL" clId="{85A610F8-147C-4D8B-A244-6EDEA7B5954F}" dt="2026-04-28T13:36:35.349" v="3" actId="27636"/>
        <pc:sldMkLst>
          <pc:docMk/>
          <pc:sldMk cId="0" sldId="257"/>
        </pc:sldMkLst>
        <pc:spChg chg="mod">
          <ac:chgData name="Marco Antonio Miranda" userId="f7d38ebe-8a06-4d3b-8a19-102c864155b8" providerId="ADAL" clId="{85A610F8-147C-4D8B-A244-6EDEA7B5954F}" dt="2026-04-28T13:36:35.349" v="3" actId="27636"/>
          <ac:spMkLst>
            <pc:docMk/>
            <pc:sldMk cId="0" sldId="257"/>
            <ac:spMk id="6" creationId="{00000000-0000-0000-0000-000000000000}"/>
          </ac:spMkLst>
        </pc:spChg>
        <pc:spChg chg="mod">
          <ac:chgData name="Marco Antonio Miranda" userId="f7d38ebe-8a06-4d3b-8a19-102c864155b8" providerId="ADAL" clId="{85A610F8-147C-4D8B-A244-6EDEA7B5954F}" dt="2026-04-28T13:36:35.347" v="2" actId="27636"/>
          <ac:spMkLst>
            <pc:docMk/>
            <pc:sldMk cId="0" sldId="257"/>
            <ac:spMk id="7" creationId="{00000000-0000-0000-0000-000000000000}"/>
          </ac:spMkLst>
        </pc:spChg>
      </pc:sldChg>
      <pc:sldChg chg="modSp mod">
        <pc:chgData name="Marco Antonio Miranda" userId="f7d38ebe-8a06-4d3b-8a19-102c864155b8" providerId="ADAL" clId="{85A610F8-147C-4D8B-A244-6EDEA7B5954F}" dt="2026-04-28T13:36:35.354" v="5" actId="27636"/>
        <pc:sldMkLst>
          <pc:docMk/>
          <pc:sldMk cId="0" sldId="258"/>
        </pc:sldMkLst>
        <pc:spChg chg="mod">
          <ac:chgData name="Marco Antonio Miranda" userId="f7d38ebe-8a06-4d3b-8a19-102c864155b8" providerId="ADAL" clId="{85A610F8-147C-4D8B-A244-6EDEA7B5954F}" dt="2026-04-28T13:36:35.353" v="4" actId="27636"/>
          <ac:spMkLst>
            <pc:docMk/>
            <pc:sldMk cId="0" sldId="258"/>
            <ac:spMk id="6" creationId="{00000000-0000-0000-0000-000000000000}"/>
          </ac:spMkLst>
        </pc:spChg>
        <pc:spChg chg="mod">
          <ac:chgData name="Marco Antonio Miranda" userId="f7d38ebe-8a06-4d3b-8a19-102c864155b8" providerId="ADAL" clId="{85A610F8-147C-4D8B-A244-6EDEA7B5954F}" dt="2026-04-28T13:36:35.354" v="5" actId="27636"/>
          <ac:spMkLst>
            <pc:docMk/>
            <pc:sldMk cId="0" sldId="258"/>
            <ac:spMk id="7" creationId="{00000000-0000-0000-0000-000000000000}"/>
          </ac:spMkLst>
        </pc:spChg>
      </pc:sldChg>
      <pc:sldChg chg="modSp mod">
        <pc:chgData name="Marco Antonio Miranda" userId="f7d38ebe-8a06-4d3b-8a19-102c864155b8" providerId="ADAL" clId="{85A610F8-147C-4D8B-A244-6EDEA7B5954F}" dt="2026-04-28T13:36:35.360" v="8" actId="27636"/>
        <pc:sldMkLst>
          <pc:docMk/>
          <pc:sldMk cId="0" sldId="259"/>
        </pc:sldMkLst>
        <pc:spChg chg="mod">
          <ac:chgData name="Marco Antonio Miranda" userId="f7d38ebe-8a06-4d3b-8a19-102c864155b8" providerId="ADAL" clId="{85A610F8-147C-4D8B-A244-6EDEA7B5954F}" dt="2026-04-28T13:36:35.360" v="8" actId="27636"/>
          <ac:spMkLst>
            <pc:docMk/>
            <pc:sldMk cId="0" sldId="259"/>
            <ac:spMk id="6" creationId="{00000000-0000-0000-0000-000000000000}"/>
          </ac:spMkLst>
        </pc:spChg>
        <pc:spChg chg="mod">
          <ac:chgData name="Marco Antonio Miranda" userId="f7d38ebe-8a06-4d3b-8a19-102c864155b8" providerId="ADAL" clId="{85A610F8-147C-4D8B-A244-6EDEA7B5954F}" dt="2026-04-28T13:36:35.358" v="7" actId="27636"/>
          <ac:spMkLst>
            <pc:docMk/>
            <pc:sldMk cId="0" sldId="259"/>
            <ac:spMk id="7" creationId="{00000000-0000-0000-0000-000000000000}"/>
          </ac:spMkLst>
        </pc:spChg>
        <pc:spChg chg="mod">
          <ac:chgData name="Marco Antonio Miranda" userId="f7d38ebe-8a06-4d3b-8a19-102c864155b8" providerId="ADAL" clId="{85A610F8-147C-4D8B-A244-6EDEA7B5954F}" dt="2026-04-28T13:36:35.357" v="6" actId="27636"/>
          <ac:spMkLst>
            <pc:docMk/>
            <pc:sldMk cId="0" sldId="259"/>
            <ac:spMk id="18" creationId="{00000000-0000-0000-0000-000000000000}"/>
          </ac:spMkLst>
        </pc:spChg>
      </pc:sldChg>
      <pc:sldChg chg="modSp mod">
        <pc:chgData name="Marco Antonio Miranda" userId="f7d38ebe-8a06-4d3b-8a19-102c864155b8" providerId="ADAL" clId="{85A610F8-147C-4D8B-A244-6EDEA7B5954F}" dt="2026-04-28T13:36:35.365" v="10" actId="27636"/>
        <pc:sldMkLst>
          <pc:docMk/>
          <pc:sldMk cId="0" sldId="260"/>
        </pc:sldMkLst>
        <pc:spChg chg="mod">
          <ac:chgData name="Marco Antonio Miranda" userId="f7d38ebe-8a06-4d3b-8a19-102c864155b8" providerId="ADAL" clId="{85A610F8-147C-4D8B-A244-6EDEA7B5954F}" dt="2026-04-28T13:36:35.365" v="10" actId="27636"/>
          <ac:spMkLst>
            <pc:docMk/>
            <pc:sldMk cId="0" sldId="260"/>
            <ac:spMk id="6" creationId="{00000000-0000-0000-0000-000000000000}"/>
          </ac:spMkLst>
        </pc:spChg>
        <pc:spChg chg="mod">
          <ac:chgData name="Marco Antonio Miranda" userId="f7d38ebe-8a06-4d3b-8a19-102c864155b8" providerId="ADAL" clId="{85A610F8-147C-4D8B-A244-6EDEA7B5954F}" dt="2026-04-28T13:36:35.362" v="9" actId="27636"/>
          <ac:spMkLst>
            <pc:docMk/>
            <pc:sldMk cId="0" sldId="260"/>
            <ac:spMk id="7" creationId="{00000000-0000-0000-0000-000000000000}"/>
          </ac:spMkLst>
        </pc:spChg>
      </pc:sldChg>
      <pc:sldChg chg="modSp mod">
        <pc:chgData name="Marco Antonio Miranda" userId="f7d38ebe-8a06-4d3b-8a19-102c864155b8" providerId="ADAL" clId="{85A610F8-147C-4D8B-A244-6EDEA7B5954F}" dt="2026-04-28T13:36:35.370" v="12" actId="27636"/>
        <pc:sldMkLst>
          <pc:docMk/>
          <pc:sldMk cId="0" sldId="261"/>
        </pc:sldMkLst>
        <pc:spChg chg="mod">
          <ac:chgData name="Marco Antonio Miranda" userId="f7d38ebe-8a06-4d3b-8a19-102c864155b8" providerId="ADAL" clId="{85A610F8-147C-4D8B-A244-6EDEA7B5954F}" dt="2026-04-28T13:36:35.370" v="12" actId="27636"/>
          <ac:spMkLst>
            <pc:docMk/>
            <pc:sldMk cId="0" sldId="261"/>
            <ac:spMk id="6" creationId="{00000000-0000-0000-0000-000000000000}"/>
          </ac:spMkLst>
        </pc:spChg>
        <pc:spChg chg="mod">
          <ac:chgData name="Marco Antonio Miranda" userId="f7d38ebe-8a06-4d3b-8a19-102c864155b8" providerId="ADAL" clId="{85A610F8-147C-4D8B-A244-6EDEA7B5954F}" dt="2026-04-28T13:36:35.369" v="11" actId="27636"/>
          <ac:spMkLst>
            <pc:docMk/>
            <pc:sldMk cId="0" sldId="261"/>
            <ac:spMk id="7" creationId="{00000000-0000-0000-0000-000000000000}"/>
          </ac:spMkLst>
        </pc:spChg>
      </pc:sldChg>
      <pc:sldChg chg="modSp mod">
        <pc:chgData name="Marco Antonio Miranda" userId="f7d38ebe-8a06-4d3b-8a19-102c864155b8" providerId="ADAL" clId="{85A610F8-147C-4D8B-A244-6EDEA7B5954F}" dt="2026-04-28T13:36:35.373" v="14" actId="27636"/>
        <pc:sldMkLst>
          <pc:docMk/>
          <pc:sldMk cId="0" sldId="262"/>
        </pc:sldMkLst>
        <pc:spChg chg="mod">
          <ac:chgData name="Marco Antonio Miranda" userId="f7d38ebe-8a06-4d3b-8a19-102c864155b8" providerId="ADAL" clId="{85A610F8-147C-4D8B-A244-6EDEA7B5954F}" dt="2026-04-28T13:36:35.373" v="13" actId="27636"/>
          <ac:spMkLst>
            <pc:docMk/>
            <pc:sldMk cId="0" sldId="262"/>
            <ac:spMk id="6" creationId="{00000000-0000-0000-0000-000000000000}"/>
          </ac:spMkLst>
        </pc:spChg>
        <pc:spChg chg="mod">
          <ac:chgData name="Marco Antonio Miranda" userId="f7d38ebe-8a06-4d3b-8a19-102c864155b8" providerId="ADAL" clId="{85A610F8-147C-4D8B-A244-6EDEA7B5954F}" dt="2026-04-28T13:36:35.373" v="14" actId="27636"/>
          <ac:spMkLst>
            <pc:docMk/>
            <pc:sldMk cId="0" sldId="262"/>
            <ac:spMk id="7" creationId="{00000000-0000-0000-0000-000000000000}"/>
          </ac:spMkLst>
        </pc:spChg>
      </pc:sldChg>
      <pc:sldChg chg="modSp mod">
        <pc:chgData name="Marco Antonio Miranda" userId="f7d38ebe-8a06-4d3b-8a19-102c864155b8" providerId="ADAL" clId="{85A610F8-147C-4D8B-A244-6EDEA7B5954F}" dt="2026-04-28T13:36:35.378" v="16" actId="27636"/>
        <pc:sldMkLst>
          <pc:docMk/>
          <pc:sldMk cId="0" sldId="263"/>
        </pc:sldMkLst>
        <pc:spChg chg="mod">
          <ac:chgData name="Marco Antonio Miranda" userId="f7d38ebe-8a06-4d3b-8a19-102c864155b8" providerId="ADAL" clId="{85A610F8-147C-4D8B-A244-6EDEA7B5954F}" dt="2026-04-28T13:36:35.378" v="16" actId="27636"/>
          <ac:spMkLst>
            <pc:docMk/>
            <pc:sldMk cId="0" sldId="263"/>
            <ac:spMk id="6" creationId="{00000000-0000-0000-0000-000000000000}"/>
          </ac:spMkLst>
        </pc:spChg>
        <pc:spChg chg="mod">
          <ac:chgData name="Marco Antonio Miranda" userId="f7d38ebe-8a06-4d3b-8a19-102c864155b8" providerId="ADAL" clId="{85A610F8-147C-4D8B-A244-6EDEA7B5954F}" dt="2026-04-28T13:36:35.375" v="15" actId="27636"/>
          <ac:spMkLst>
            <pc:docMk/>
            <pc:sldMk cId="0" sldId="263"/>
            <ac:spMk id="7" creationId="{00000000-0000-0000-0000-000000000000}"/>
          </ac:spMkLst>
        </pc:spChg>
      </pc:sldChg>
      <pc:sldChg chg="modSp mod">
        <pc:chgData name="Marco Antonio Miranda" userId="f7d38ebe-8a06-4d3b-8a19-102c864155b8" providerId="ADAL" clId="{85A610F8-147C-4D8B-A244-6EDEA7B5954F}" dt="2026-04-28T13:36:35.382" v="18" actId="27636"/>
        <pc:sldMkLst>
          <pc:docMk/>
          <pc:sldMk cId="0" sldId="264"/>
        </pc:sldMkLst>
        <pc:spChg chg="mod">
          <ac:chgData name="Marco Antonio Miranda" userId="f7d38ebe-8a06-4d3b-8a19-102c864155b8" providerId="ADAL" clId="{85A610F8-147C-4D8B-A244-6EDEA7B5954F}" dt="2026-04-28T13:36:35.381" v="17" actId="27636"/>
          <ac:spMkLst>
            <pc:docMk/>
            <pc:sldMk cId="0" sldId="264"/>
            <ac:spMk id="6" creationId="{00000000-0000-0000-0000-000000000000}"/>
          </ac:spMkLst>
        </pc:spChg>
        <pc:spChg chg="mod">
          <ac:chgData name="Marco Antonio Miranda" userId="f7d38ebe-8a06-4d3b-8a19-102c864155b8" providerId="ADAL" clId="{85A610F8-147C-4D8B-A244-6EDEA7B5954F}" dt="2026-04-28T13:36:35.382" v="18" actId="27636"/>
          <ac:spMkLst>
            <pc:docMk/>
            <pc:sldMk cId="0" sldId="264"/>
            <ac:spMk id="7" creationId="{00000000-0000-0000-0000-000000000000}"/>
          </ac:spMkLst>
        </pc:spChg>
      </pc:sldChg>
      <pc:sldChg chg="modSp mod">
        <pc:chgData name="Marco Antonio Miranda" userId="f7d38ebe-8a06-4d3b-8a19-102c864155b8" providerId="ADAL" clId="{85A610F8-147C-4D8B-A244-6EDEA7B5954F}" dt="2026-04-28T13:36:35.387" v="20" actId="27636"/>
        <pc:sldMkLst>
          <pc:docMk/>
          <pc:sldMk cId="0" sldId="265"/>
        </pc:sldMkLst>
        <pc:spChg chg="mod">
          <ac:chgData name="Marco Antonio Miranda" userId="f7d38ebe-8a06-4d3b-8a19-102c864155b8" providerId="ADAL" clId="{85A610F8-147C-4D8B-A244-6EDEA7B5954F}" dt="2026-04-28T13:36:35.387" v="20" actId="27636"/>
          <ac:spMkLst>
            <pc:docMk/>
            <pc:sldMk cId="0" sldId="265"/>
            <ac:spMk id="6" creationId="{00000000-0000-0000-0000-000000000000}"/>
          </ac:spMkLst>
        </pc:spChg>
        <pc:spChg chg="mod">
          <ac:chgData name="Marco Antonio Miranda" userId="f7d38ebe-8a06-4d3b-8a19-102c864155b8" providerId="ADAL" clId="{85A610F8-147C-4D8B-A244-6EDEA7B5954F}" dt="2026-04-28T13:36:35.385" v="19" actId="27636"/>
          <ac:spMkLst>
            <pc:docMk/>
            <pc:sldMk cId="0" sldId="265"/>
            <ac:spMk id="7" creationId="{00000000-0000-0000-0000-000000000000}"/>
          </ac:spMkLst>
        </pc:spChg>
      </pc:sldChg>
      <pc:sldChg chg="modSp mod">
        <pc:chgData name="Marco Antonio Miranda" userId="f7d38ebe-8a06-4d3b-8a19-102c864155b8" providerId="ADAL" clId="{85A610F8-147C-4D8B-A244-6EDEA7B5954F}" dt="2026-04-28T13:36:35.392" v="23" actId="27636"/>
        <pc:sldMkLst>
          <pc:docMk/>
          <pc:sldMk cId="0" sldId="266"/>
        </pc:sldMkLst>
        <pc:spChg chg="mod">
          <ac:chgData name="Marco Antonio Miranda" userId="f7d38ebe-8a06-4d3b-8a19-102c864155b8" providerId="ADAL" clId="{85A610F8-147C-4D8B-A244-6EDEA7B5954F}" dt="2026-04-28T13:36:35.390" v="21" actId="27636"/>
          <ac:spMkLst>
            <pc:docMk/>
            <pc:sldMk cId="0" sldId="266"/>
            <ac:spMk id="6" creationId="{00000000-0000-0000-0000-000000000000}"/>
          </ac:spMkLst>
        </pc:spChg>
        <pc:spChg chg="mod">
          <ac:chgData name="Marco Antonio Miranda" userId="f7d38ebe-8a06-4d3b-8a19-102c864155b8" providerId="ADAL" clId="{85A610F8-147C-4D8B-A244-6EDEA7B5954F}" dt="2026-04-28T13:36:35.391" v="22" actId="27636"/>
          <ac:spMkLst>
            <pc:docMk/>
            <pc:sldMk cId="0" sldId="266"/>
            <ac:spMk id="7" creationId="{00000000-0000-0000-0000-000000000000}"/>
          </ac:spMkLst>
        </pc:spChg>
        <pc:spChg chg="mod">
          <ac:chgData name="Marco Antonio Miranda" userId="f7d38ebe-8a06-4d3b-8a19-102c864155b8" providerId="ADAL" clId="{85A610F8-147C-4D8B-A244-6EDEA7B5954F}" dt="2026-04-28T13:36:35.392" v="23" actId="27636"/>
          <ac:spMkLst>
            <pc:docMk/>
            <pc:sldMk cId="0" sldId="266"/>
            <ac:spMk id="18" creationId="{00000000-0000-0000-0000-000000000000}"/>
          </ac:spMkLst>
        </pc:spChg>
      </pc:sldChg>
      <pc:sldChg chg="modSp mod">
        <pc:chgData name="Marco Antonio Miranda" userId="f7d38ebe-8a06-4d3b-8a19-102c864155b8" providerId="ADAL" clId="{85A610F8-147C-4D8B-A244-6EDEA7B5954F}" dt="2026-04-28T13:36:35.400" v="25" actId="27636"/>
        <pc:sldMkLst>
          <pc:docMk/>
          <pc:sldMk cId="0" sldId="267"/>
        </pc:sldMkLst>
        <pc:spChg chg="mod">
          <ac:chgData name="Marco Antonio Miranda" userId="f7d38ebe-8a06-4d3b-8a19-102c864155b8" providerId="ADAL" clId="{85A610F8-147C-4D8B-A244-6EDEA7B5954F}" dt="2026-04-28T13:36:35.399" v="24" actId="27636"/>
          <ac:spMkLst>
            <pc:docMk/>
            <pc:sldMk cId="0" sldId="267"/>
            <ac:spMk id="6" creationId="{00000000-0000-0000-0000-000000000000}"/>
          </ac:spMkLst>
        </pc:spChg>
        <pc:spChg chg="mod">
          <ac:chgData name="Marco Antonio Miranda" userId="f7d38ebe-8a06-4d3b-8a19-102c864155b8" providerId="ADAL" clId="{85A610F8-147C-4D8B-A244-6EDEA7B5954F}" dt="2026-04-28T13:36:35.400" v="25" actId="27636"/>
          <ac:spMkLst>
            <pc:docMk/>
            <pc:sldMk cId="0" sldId="267"/>
            <ac:spMk id="7" creationId="{00000000-0000-0000-0000-000000000000}"/>
          </ac:spMkLst>
        </pc:spChg>
      </pc:sldChg>
      <pc:sldChg chg="modSp mod">
        <pc:chgData name="Marco Antonio Miranda" userId="f7d38ebe-8a06-4d3b-8a19-102c864155b8" providerId="ADAL" clId="{85A610F8-147C-4D8B-A244-6EDEA7B5954F}" dt="2026-04-28T13:36:35.404" v="27" actId="27636"/>
        <pc:sldMkLst>
          <pc:docMk/>
          <pc:sldMk cId="0" sldId="268"/>
        </pc:sldMkLst>
        <pc:spChg chg="mod">
          <ac:chgData name="Marco Antonio Miranda" userId="f7d38ebe-8a06-4d3b-8a19-102c864155b8" providerId="ADAL" clId="{85A610F8-147C-4D8B-A244-6EDEA7B5954F}" dt="2026-04-28T13:36:35.403" v="26" actId="27636"/>
          <ac:spMkLst>
            <pc:docMk/>
            <pc:sldMk cId="0" sldId="268"/>
            <ac:spMk id="6" creationId="{00000000-0000-0000-0000-000000000000}"/>
          </ac:spMkLst>
        </pc:spChg>
        <pc:spChg chg="mod">
          <ac:chgData name="Marco Antonio Miranda" userId="f7d38ebe-8a06-4d3b-8a19-102c864155b8" providerId="ADAL" clId="{85A610F8-147C-4D8B-A244-6EDEA7B5954F}" dt="2026-04-28T13:36:35.404" v="27" actId="27636"/>
          <ac:spMkLst>
            <pc:docMk/>
            <pc:sldMk cId="0" sldId="268"/>
            <ac:spMk id="7" creationId="{00000000-0000-0000-0000-000000000000}"/>
          </ac:spMkLst>
        </pc:spChg>
      </pc:sldChg>
      <pc:sldChg chg="modSp mod">
        <pc:chgData name="Marco Antonio Miranda" userId="f7d38ebe-8a06-4d3b-8a19-102c864155b8" providerId="ADAL" clId="{85A610F8-147C-4D8B-A244-6EDEA7B5954F}" dt="2026-04-28T13:36:35.410" v="30" actId="27636"/>
        <pc:sldMkLst>
          <pc:docMk/>
          <pc:sldMk cId="0" sldId="269"/>
        </pc:sldMkLst>
        <pc:spChg chg="mod">
          <ac:chgData name="Marco Antonio Miranda" userId="f7d38ebe-8a06-4d3b-8a19-102c864155b8" providerId="ADAL" clId="{85A610F8-147C-4D8B-A244-6EDEA7B5954F}" dt="2026-04-28T13:36:35.407" v="28" actId="27636"/>
          <ac:spMkLst>
            <pc:docMk/>
            <pc:sldMk cId="0" sldId="269"/>
            <ac:spMk id="6" creationId="{00000000-0000-0000-0000-000000000000}"/>
          </ac:spMkLst>
        </pc:spChg>
        <pc:spChg chg="mod">
          <ac:chgData name="Marco Antonio Miranda" userId="f7d38ebe-8a06-4d3b-8a19-102c864155b8" providerId="ADAL" clId="{85A610F8-147C-4D8B-A244-6EDEA7B5954F}" dt="2026-04-28T13:36:35.407" v="29" actId="27636"/>
          <ac:spMkLst>
            <pc:docMk/>
            <pc:sldMk cId="0" sldId="269"/>
            <ac:spMk id="7" creationId="{00000000-0000-0000-0000-000000000000}"/>
          </ac:spMkLst>
        </pc:spChg>
        <pc:spChg chg="mod">
          <ac:chgData name="Marco Antonio Miranda" userId="f7d38ebe-8a06-4d3b-8a19-102c864155b8" providerId="ADAL" clId="{85A610F8-147C-4D8B-A244-6EDEA7B5954F}" dt="2026-04-28T13:36:35.410" v="30" actId="27636"/>
          <ac:spMkLst>
            <pc:docMk/>
            <pc:sldMk cId="0" sldId="269"/>
            <ac:spMk id="18" creationId="{00000000-0000-0000-0000-000000000000}"/>
          </ac:spMkLst>
        </pc:spChg>
      </pc:sldChg>
      <pc:sldChg chg="modSp mod">
        <pc:chgData name="Marco Antonio Miranda" userId="f7d38ebe-8a06-4d3b-8a19-102c864155b8" providerId="ADAL" clId="{85A610F8-147C-4D8B-A244-6EDEA7B5954F}" dt="2026-04-28T13:36:35.419" v="32" actId="27636"/>
        <pc:sldMkLst>
          <pc:docMk/>
          <pc:sldMk cId="0" sldId="270"/>
        </pc:sldMkLst>
        <pc:spChg chg="mod">
          <ac:chgData name="Marco Antonio Miranda" userId="f7d38ebe-8a06-4d3b-8a19-102c864155b8" providerId="ADAL" clId="{85A610F8-147C-4D8B-A244-6EDEA7B5954F}" dt="2026-04-28T13:36:35.418" v="31" actId="27636"/>
          <ac:spMkLst>
            <pc:docMk/>
            <pc:sldMk cId="0" sldId="270"/>
            <ac:spMk id="6" creationId="{00000000-0000-0000-0000-000000000000}"/>
          </ac:spMkLst>
        </pc:spChg>
        <pc:spChg chg="mod">
          <ac:chgData name="Marco Antonio Miranda" userId="f7d38ebe-8a06-4d3b-8a19-102c864155b8" providerId="ADAL" clId="{85A610F8-147C-4D8B-A244-6EDEA7B5954F}" dt="2026-04-28T13:36:35.419" v="32" actId="27636"/>
          <ac:spMkLst>
            <pc:docMk/>
            <pc:sldMk cId="0" sldId="270"/>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665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0:00–0:40
Fala sugerida:
Nesta apresentação eu vou mostrar como transformei dados brutos de extensômetros de uma hidrelétrica em uma análise completa de séries temporais. A ideia é mostrar o processo de ponta a ponta: primeiro organizando e tratando os dados, depois detectando anomalias, analisando relações entre sensores e, por fim, comparando modelos de predição. O ponto central é que, em dados de barragem, não basta treinar um modelo: precisamos garantir que os dados façam sentido físico e temporal.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0:40–1:10
Fala sugerida:
A apresentação segue uma lógica parecida com o CRISP-DM: entender o problema, entender os dados, preparar, modelar, avaliar e comunicar. Para um leigo, isso significa transformar uma planilha bruta em uma história confiável. Cada etapa reduz um tipo de risco: risco de dado incorreto, risco de anomalia mal interpretada, risco de modelo enganoso e risco de conclusão errada.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1:10–1:55
Fala sugerida:
Aqui vale explicar para qualquer pessoa: uma série temporal é como um filme. Cada ponto depende do que veio antes. No caso de uma barragem, os sensores não devem ser vistos como linhas soltas de uma planilha. Eles registram uma evolução no tempo. Por isso, a orientação do especialista foi crucial: antes de 2008 a instrumentação ainda estava se adaptando; depois, uma medida por dia já é suficiente para acompanhar o comportamento geral sem ficar preso ao ruído de cada hora.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1:55–2:40
Fala sugerida:
Este é um slide muito importante para a banca. O erro comum seria aplicar simplesmente ffill e bfill em tudo. O problema é que isso pode inventar valores em períodos nos quais um sensor talvez nem estivesse funcionando. A solução correta foi tratar o dado faltante como um problema de qualidade: primeiro reduzir para frequência diária, depois analisar a ausência por sensor e por dia, remover o que é muito incompleto e usar interpolação temporal apenas para lacunas que fazem sentido.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2:40–3:35
Fala sugerida:
Neste gráfico, a explicação para leigos é direta: a linha azul é o comportamento do sensor ao longo dos anos. Os pontos vermelhos são medições que ficaram muito fora do padrão. O destaque principal é um pico muito alto perto de 2019. Em dados estruturais, eu não devo simplesmente apagar isso sem olhar. Uma anomalia pode ser erro de sensor, ruído de medição ou um evento real. Por isso, a análise estatística ajuda a sinalizar onde o especialista deve prestar atenção.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3:35–4:20
Fala sugerida:
Aqui eu explico a escolha do método. A média e o desvio padrão podem ser enganados por valores extremos. Se um sensor gera um valor absurdamente alto, esse valor puxa a média e aumenta o desvio. Com isso, o método tradicional pode deixar de enxergar o próprio erro. A mediana e o MAD são mais resistentes. A mediana mostra o valor central e o MAD mede a distância típica até esse centro. Quando o robust z-score passa de 3,5 em módulo, o ponto está distante demais e é marcado como anomalia.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4:20–5:05
Fala sugerida:
A normalização coloca todos os sensores em uma escala comparável. Em vez de cada sensor trabalhar com sua grandeza original, o MinMax transforma tudo entre zero e um. Isso é útil para modelos de aprendizado de máquina, principalmente redes neurais. O ponto que eu quero mostrar é que uma anomalia pode alterar a régua. Se existe um pico muito fora do normal, ele pode fazer o restante dos valores parecer menor ou comprimido. Por isso comparamos a normalização com e sem tratamento.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5:05–5:50
Fala sugerida:
Depois do tratamento, a série fica mais adequada para treinamento. Para leigos: é como ajustar o volume de várias músicas para comparar melhor. Se uma música tem um grito no meio, o sistema reduz todo o volume e atrapalha a comparação. Em dados, um pico anômalo pode distorcer a escala. Mas é importante destacar: tratar anomalia para modelagem não significa ignorar o evento. O evento precisa ser registrado, porque pode ter valor operacional.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5:50–6:40
Fala sugerida:
Este gráfico responde se dois sensores se comportam de forma parecida ao longo do tempo. O eixo horizontal mostra atrasos em dias. O lag zero é o mesmo dia. Como a maior correlação está no lag zero, isso indica que sensor 1 e sensor 2 tendem a subir e descer juntos no mesmo período. Para explicar de forma simples: é como duas pessoas andando lado a lado. Quando uma acelera, a outra também acelera quase ao mesmo tempo.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6:40–7:25
Fala sugerida:
O horizonte de predição foi definido em sete dias. Isso faz sentido porque é uma janela curta e operacional. Em monitoramento, prever muito longe pode aumentar muito a incerteza. A comparação com baseline é importante: baseline é uma regra simples, como usar o último valor conhecido. Se um modelo sofisticado não supera o baseline, ele ainda não está gerando ganho real. Essa postura é muito valorizada em projetos profissionais.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7:25–8:20
Fala sugerida:
Aqui a interpretação precisa ser madura. O resultado mostra que o baseline foi melhor do que os modelos mais complexos. Isso não é fracasso; é aprendizado. Em séries temporais muito estáveis, prever usando o comportamento recente pode ser muito forte. Se LSTM e XGBoost não vencem o baseline, talvez os dados não tenham sinal suficiente, talvez o horizonte precise ser ajustado, talvez as features não estejam ideais ou talvez eventos extremos estejam dificultando o aprendizado. O importante é que o projeto não força uma conclusão falsa.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8:20–9:10
Fala sugerida:
Este gráfico é excelente para explicar para leigos. A linha real oscila mais e apresenta movimentos abruptos. Os modelos tendem a ser mais suaves. Isso significa que eles conseguem entender a tendência geral, mas têm dificuldade com mudanças bruscas. É como prever o trânsito: dá para prever o fluxo normal da semana, mas um acidente inesperado muda tudo rapidamente.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9:10–10:00
Fala sugerida:
O exercício extra é muito importante porque mostra visão sistêmica. Em uma barragem, sensores não estão isolados; eles podem responder ao mesmo fenômeno físico. Ao usar outros sensores para prever o sensor 1, estamos testando se o conjunto ajuda. O resultado mostra melhora da LSTM em relação à primeira LSTM, o que sugere que há informação útil nos outros sensores. Mesmo assim, ainda há espaço para melhoria, principalmente na captura dos períodos de queda abrupta.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10:00–10:45
Fala sugerida:
A síntese é que o projeto não é apenas sobre LSTM. O projeto é sobre fazer ciência de dados com responsabilidade. Primeiro, preparar corretamente. Depois, entender anomalias. Depois, comparar modelos. E finalmente interpretar resultados com honestidade. Essa é a diferença entre apenas executar código e fazer uma análise profissional.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10:45–11:25
Fala sugerida:
Para fechar com visão de futuro, eu mostro como esse projeto vira portfólio. O próximo passo seria usar validação temporal mais robusta, adicionar variáveis externas e transformar a análise em uma solução de monitoramento. Isso conecta o trabalho acadêmico ao mercado: dados de sensores, alerta de anomalias e tomada de decisão operacional.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11:25–12:00
Fala sugerida:
Obrigado pela atenção. Fico à disposição para perguntas sobre o tratamento de dados, o método de anomalias, a correlação temporal ou a comparação dos modelos.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Shape 1"/>
          <p:cNvSpPr/>
          <p:nvPr/>
        </p:nvSpPr>
        <p:spPr>
          <a:xfrm>
            <a:off x="0" y="0"/>
            <a:ext cx="164592" cy="6858000"/>
          </a:xfrm>
          <a:prstGeom prst="rect">
            <a:avLst/>
          </a:prstGeom>
          <a:solidFill>
            <a:srgbClr val="E30613"/>
          </a:solidFill>
          <a:ln w="12700">
            <a:solidFill>
              <a:srgbClr val="E30613"/>
            </a:solidFill>
            <a:prstDash val="solid"/>
          </a:ln>
        </p:spPr>
        <p:txBody>
          <a:bodyPr/>
          <a:lstStyle/>
          <a:p>
            <a:endParaRPr lang="pt-BR"/>
          </a:p>
        </p:txBody>
      </p:sp>
      <p:sp>
        <p:nvSpPr>
          <p:cNvPr id="5" name="Text 2"/>
          <p:cNvSpPr/>
          <p:nvPr/>
        </p:nvSpPr>
        <p:spPr>
          <a:xfrm>
            <a:off x="2990606" y="0"/>
            <a:ext cx="3474720" cy="320040"/>
          </a:xfrm>
          <a:prstGeom prst="rect">
            <a:avLst/>
          </a:prstGeom>
          <a:noFill/>
          <a:ln/>
        </p:spPr>
        <p:txBody>
          <a:bodyPr wrap="square" lIns="0" tIns="0" rIns="0" bIns="0" rtlCol="0" anchor="ctr"/>
          <a:lstStyle/>
          <a:p>
            <a:pPr marL="0" indent="0">
              <a:buNone/>
            </a:pPr>
            <a:r>
              <a:rPr lang="en-US" sz="1200" b="1" dirty="0">
                <a:solidFill>
                  <a:srgbClr val="005CA9"/>
                </a:solidFill>
              </a:rPr>
              <a:t>SENAI | IA Aplicada</a:t>
            </a:r>
            <a:endParaRPr lang="en-US" sz="1200" dirty="0"/>
          </a:p>
        </p:txBody>
      </p:sp>
      <p:sp>
        <p:nvSpPr>
          <p:cNvPr id="6" name="Text 3"/>
          <p:cNvSpPr/>
          <p:nvPr/>
        </p:nvSpPr>
        <p:spPr>
          <a:xfrm>
            <a:off x="387671" y="651510"/>
            <a:ext cx="4893938" cy="1325880"/>
          </a:xfrm>
          <a:prstGeom prst="rect">
            <a:avLst/>
          </a:prstGeom>
          <a:noFill/>
          <a:ln/>
        </p:spPr>
        <p:txBody>
          <a:bodyPr wrap="square" lIns="254" tIns="254" rIns="254" bIns="254" rtlCol="0" anchor="ctr">
            <a:normAutofit fontScale="85000" lnSpcReduction="10000"/>
          </a:bodyPr>
          <a:lstStyle/>
          <a:p>
            <a:pPr marL="0" indent="0">
              <a:buNone/>
            </a:pPr>
            <a:r>
              <a:rPr lang="en-US" sz="3100" b="1" dirty="0">
                <a:solidFill>
                  <a:srgbClr val="002B5C"/>
                </a:solidFill>
              </a:rPr>
              <a:t>Análise de Séries Temporais em</a:t>
            </a:r>
            <a:endParaRPr lang="en-US" sz="3100" dirty="0"/>
          </a:p>
          <a:p>
            <a:pPr marL="0" indent="0">
              <a:buNone/>
            </a:pPr>
            <a:r>
              <a:rPr lang="en-US" sz="3100" b="1" dirty="0">
                <a:solidFill>
                  <a:srgbClr val="002B5C"/>
                </a:solidFill>
              </a:rPr>
              <a:t>Extensômetros de Hidrelétrica</a:t>
            </a:r>
            <a:endParaRPr lang="en-US" sz="3100" dirty="0"/>
          </a:p>
        </p:txBody>
      </p:sp>
      <p:sp>
        <p:nvSpPr>
          <p:cNvPr id="7" name="Text 4"/>
          <p:cNvSpPr/>
          <p:nvPr/>
        </p:nvSpPr>
        <p:spPr>
          <a:xfrm>
            <a:off x="387671" y="1991408"/>
            <a:ext cx="4297680" cy="320040"/>
          </a:xfrm>
          <a:prstGeom prst="rect">
            <a:avLst/>
          </a:prstGeom>
          <a:noFill/>
          <a:ln/>
        </p:spPr>
        <p:txBody>
          <a:bodyPr wrap="square" lIns="0" tIns="0" rIns="0" bIns="0" rtlCol="0" anchor="ctr"/>
          <a:lstStyle/>
          <a:p>
            <a:pPr marL="0" indent="0">
              <a:buNone/>
            </a:pPr>
            <a:r>
              <a:rPr lang="en-US" sz="1400" dirty="0">
                <a:solidFill>
                  <a:srgbClr val="0F172A"/>
                </a:solidFill>
              </a:rPr>
              <a:t>Tratamento de dados • Anomalias • Correlação • Predição</a:t>
            </a:r>
            <a:endParaRPr lang="en-US" sz="1400" dirty="0"/>
          </a:p>
        </p:txBody>
      </p:sp>
      <p:sp>
        <p:nvSpPr>
          <p:cNvPr id="9" name="Text 6"/>
          <p:cNvSpPr/>
          <p:nvPr/>
        </p:nvSpPr>
        <p:spPr>
          <a:xfrm>
            <a:off x="603504" y="3406140"/>
            <a:ext cx="2231136"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Projeto aplicável a portfólio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Roteiro da solução</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Organização inspirada no CRISP-DM, com foco em explicabilidade.</a:t>
            </a:r>
            <a:endParaRPr lang="en-US" sz="1250" dirty="0"/>
          </a:p>
        </p:txBody>
      </p:sp>
      <p:sp>
        <p:nvSpPr>
          <p:cNvPr id="8" name="Shape 6"/>
          <p:cNvSpPr/>
          <p:nvPr/>
        </p:nvSpPr>
        <p:spPr>
          <a:xfrm>
            <a:off x="685800" y="1508760"/>
            <a:ext cx="5577840" cy="4069080"/>
          </a:xfrm>
          <a:prstGeom prst="roundRect">
            <a:avLst/>
          </a:prstGeom>
          <a:solidFill>
            <a:srgbClr val="FFFFFF"/>
          </a:solidFill>
          <a:ln w="12700">
            <a:solidFill>
              <a:srgbClr val="E2E8F0"/>
            </a:solidFill>
            <a:prstDash val="solid"/>
          </a:ln>
        </p:spPr>
        <p:txBody>
          <a:bodyPr/>
          <a:lstStyle/>
          <a:p>
            <a:endParaRPr lang="pt-BR"/>
          </a:p>
        </p:txBody>
      </p:sp>
      <p:sp>
        <p:nvSpPr>
          <p:cNvPr id="9" name="Text 7"/>
          <p:cNvSpPr/>
          <p:nvPr/>
        </p:nvSpPr>
        <p:spPr>
          <a:xfrm>
            <a:off x="886968" y="1673352"/>
            <a:ext cx="5175504" cy="3739896"/>
          </a:xfrm>
          <a:prstGeom prst="rect">
            <a:avLst/>
          </a:prstGeom>
          <a:noFill/>
          <a:ln/>
        </p:spPr>
        <p:txBody>
          <a:bodyPr wrap="square" lIns="254" tIns="254" rIns="254" bIns="254" rtlCol="0" anchor="ctr">
            <a:normAutofit/>
          </a:bodyPr>
          <a:lstStyle/>
          <a:p>
            <a:pPr marL="0" indent="0">
              <a:buNone/>
            </a:pPr>
            <a:r>
              <a:rPr lang="en-US" sz="1500" dirty="0">
                <a:solidFill>
                  <a:srgbClr val="0F172A"/>
                </a:solidFill>
              </a:rPr>
              <a:t>1. Entender o problema e respeitar a orientação do especialista
2. Preparar a série diária e tratar dados faltantes com critério
3. Detectar anomalias e comparar normalização com/sem tratamento
4. Avaliar correlação temporal entre sensores
5. Comparar LSTM, Random Forest, XGBoost e baseline
</a:t>
            </a:r>
            <a:endParaRPr lang="en-US" sz="1500" dirty="0"/>
          </a:p>
        </p:txBody>
      </p:sp>
      <p:sp>
        <p:nvSpPr>
          <p:cNvPr id="10" name="Shape 8"/>
          <p:cNvSpPr/>
          <p:nvPr/>
        </p:nvSpPr>
        <p:spPr>
          <a:xfrm>
            <a:off x="6629400" y="1828800"/>
            <a:ext cx="4526280" cy="2560320"/>
          </a:xfrm>
          <a:prstGeom prst="roundRect">
            <a:avLst/>
          </a:prstGeom>
          <a:solidFill>
            <a:srgbClr val="EAF3FF"/>
          </a:solidFill>
          <a:ln w="12700">
            <a:solidFill>
              <a:srgbClr val="BBD7FF"/>
            </a:solidFill>
            <a:prstDash val="solid"/>
          </a:ln>
        </p:spPr>
        <p:txBody>
          <a:bodyPr/>
          <a:lstStyle/>
          <a:p>
            <a:endParaRPr lang="pt-BR"/>
          </a:p>
        </p:txBody>
      </p:sp>
      <p:sp>
        <p:nvSpPr>
          <p:cNvPr id="11" name="Text 9"/>
          <p:cNvSpPr/>
          <p:nvPr/>
        </p:nvSpPr>
        <p:spPr>
          <a:xfrm>
            <a:off x="6793992" y="1965960"/>
            <a:ext cx="4197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Mensagem principal</a:t>
            </a:r>
            <a:endParaRPr lang="en-US" sz="1350" dirty="0"/>
          </a:p>
        </p:txBody>
      </p:sp>
      <p:sp>
        <p:nvSpPr>
          <p:cNvPr id="12" name="Text 10"/>
          <p:cNvSpPr/>
          <p:nvPr/>
        </p:nvSpPr>
        <p:spPr>
          <a:xfrm>
            <a:off x="6793992" y="2286000"/>
            <a:ext cx="4197096" cy="199339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 modelo só é confiável quando a série temporal foi preparada corretamente. O maior ganho está no tratamento dos dados antes da modelagem.</a:t>
            </a:r>
            <a:endParaRPr lang="en-US" sz="1220" dirty="0"/>
          </a:p>
        </p:txBody>
      </p:sp>
      <p:sp>
        <p:nvSpPr>
          <p:cNvPr id="13" name="Shape 11"/>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4" name="Text 12"/>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5" name="Text 13"/>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77500" lnSpcReduction="20000"/>
          </a:bodyPr>
          <a:lstStyle/>
          <a:p>
            <a:pPr marL="0" indent="0">
              <a:buNone/>
            </a:pPr>
            <a:r>
              <a:rPr lang="en-US" sz="2700" b="1" dirty="0">
                <a:solidFill>
                  <a:srgbClr val="002B5C"/>
                </a:solidFill>
              </a:rPr>
              <a:t>Contexto: extensômetros contam a “história” da estrutura</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Cada sensor registra medições ao longo do tempo; a ordem dos registros é essencial.</a:t>
            </a:r>
            <a:endParaRPr lang="en-US" sz="1250" dirty="0"/>
          </a:p>
        </p:txBody>
      </p:sp>
      <p:sp>
        <p:nvSpPr>
          <p:cNvPr id="8" name="Shape 6"/>
          <p:cNvSpPr/>
          <p:nvPr/>
        </p:nvSpPr>
        <p:spPr>
          <a:xfrm>
            <a:off x="685800" y="1417320"/>
            <a:ext cx="3246120" cy="2194560"/>
          </a:xfrm>
          <a:prstGeom prst="roundRect">
            <a:avLst/>
          </a:prstGeom>
          <a:solidFill>
            <a:srgbClr val="FFFFFF"/>
          </a:solidFill>
          <a:ln w="12700">
            <a:solidFill>
              <a:srgbClr val="E2E8F0"/>
            </a:solidFill>
            <a:prstDash val="solid"/>
          </a:ln>
        </p:spPr>
        <p:txBody>
          <a:bodyPr/>
          <a:lstStyle/>
          <a:p>
            <a:endParaRPr lang="pt-BR"/>
          </a:p>
        </p:txBody>
      </p:sp>
      <p:sp>
        <p:nvSpPr>
          <p:cNvPr id="9" name="Text 7"/>
          <p:cNvSpPr/>
          <p:nvPr/>
        </p:nvSpPr>
        <p:spPr>
          <a:xfrm>
            <a:off x="850392" y="1554480"/>
            <a:ext cx="29169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O que são os dados?</a:t>
            </a:r>
            <a:endParaRPr lang="en-US" sz="1350" dirty="0"/>
          </a:p>
        </p:txBody>
      </p:sp>
      <p:sp>
        <p:nvSpPr>
          <p:cNvPr id="10" name="Text 8"/>
          <p:cNvSpPr/>
          <p:nvPr/>
        </p:nvSpPr>
        <p:spPr>
          <a:xfrm>
            <a:off x="850392" y="1874520"/>
            <a:ext cx="2916936" cy="16276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Leituras de extensômetros instalados em uma hidrelétrica. Eles ajudam a acompanhar deformações e variações estruturais.</a:t>
            </a:r>
            <a:endParaRPr lang="en-US" sz="1220" dirty="0"/>
          </a:p>
        </p:txBody>
      </p:sp>
      <p:sp>
        <p:nvSpPr>
          <p:cNvPr id="11" name="Shape 9"/>
          <p:cNvSpPr/>
          <p:nvPr/>
        </p:nvSpPr>
        <p:spPr>
          <a:xfrm>
            <a:off x="4251960" y="1417320"/>
            <a:ext cx="3246120" cy="2194560"/>
          </a:xfrm>
          <a:prstGeom prst="roundRect">
            <a:avLst/>
          </a:prstGeom>
          <a:solidFill>
            <a:srgbClr val="FFFFFF"/>
          </a:solidFill>
          <a:ln w="12700">
            <a:solidFill>
              <a:srgbClr val="E2E8F0"/>
            </a:solidFill>
            <a:prstDash val="solid"/>
          </a:ln>
        </p:spPr>
        <p:txBody>
          <a:bodyPr/>
          <a:lstStyle/>
          <a:p>
            <a:endParaRPr lang="pt-BR"/>
          </a:p>
        </p:txBody>
      </p:sp>
      <p:sp>
        <p:nvSpPr>
          <p:cNvPr id="12" name="Text 10"/>
          <p:cNvSpPr/>
          <p:nvPr/>
        </p:nvSpPr>
        <p:spPr>
          <a:xfrm>
            <a:off x="4416552" y="1554480"/>
            <a:ext cx="29169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Decisão do especialista</a:t>
            </a:r>
            <a:endParaRPr lang="en-US" sz="1350" dirty="0"/>
          </a:p>
        </p:txBody>
      </p:sp>
      <p:sp>
        <p:nvSpPr>
          <p:cNvPr id="13" name="Text 11"/>
          <p:cNvSpPr/>
          <p:nvPr/>
        </p:nvSpPr>
        <p:spPr>
          <a:xfrm>
            <a:off x="4416552" y="1874520"/>
            <a:ext cx="2916936" cy="16276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Desconsiderar dados antes de 2008 e trabalhar com uma medida diária, suficiente para interpretar o fenômeno.</a:t>
            </a:r>
            <a:endParaRPr lang="en-US" sz="1220" dirty="0"/>
          </a:p>
        </p:txBody>
      </p:sp>
      <p:sp>
        <p:nvSpPr>
          <p:cNvPr id="14" name="Shape 12"/>
          <p:cNvSpPr/>
          <p:nvPr/>
        </p:nvSpPr>
        <p:spPr>
          <a:xfrm>
            <a:off x="7818120" y="1417320"/>
            <a:ext cx="3246120" cy="2194560"/>
          </a:xfrm>
          <a:prstGeom prst="roundRect">
            <a:avLst/>
          </a:prstGeom>
          <a:solidFill>
            <a:srgbClr val="FFF1F2"/>
          </a:solidFill>
          <a:ln w="12700">
            <a:solidFill>
              <a:srgbClr val="FFCCD3"/>
            </a:solidFill>
            <a:prstDash val="solid"/>
          </a:ln>
        </p:spPr>
        <p:txBody>
          <a:bodyPr/>
          <a:lstStyle/>
          <a:p>
            <a:endParaRPr lang="pt-BR"/>
          </a:p>
        </p:txBody>
      </p:sp>
      <p:sp>
        <p:nvSpPr>
          <p:cNvPr id="15" name="Text 13"/>
          <p:cNvSpPr/>
          <p:nvPr/>
        </p:nvSpPr>
        <p:spPr>
          <a:xfrm>
            <a:off x="7982712" y="1554480"/>
            <a:ext cx="2916936" cy="219456"/>
          </a:xfrm>
          <a:prstGeom prst="rect">
            <a:avLst/>
          </a:prstGeom>
          <a:noFill/>
          <a:ln/>
        </p:spPr>
        <p:txBody>
          <a:bodyPr wrap="square" lIns="127" tIns="127" rIns="127" bIns="127" rtlCol="0" anchor="ctr">
            <a:normAutofit/>
          </a:bodyPr>
          <a:lstStyle/>
          <a:p>
            <a:pPr marL="0" indent="0">
              <a:buNone/>
            </a:pPr>
            <a:r>
              <a:rPr lang="en-US" sz="1350" b="1" dirty="0">
                <a:solidFill>
                  <a:srgbClr val="E30613"/>
                </a:solidFill>
              </a:rPr>
              <a:t>Risco analítico</a:t>
            </a:r>
            <a:endParaRPr lang="en-US" sz="1350" dirty="0"/>
          </a:p>
        </p:txBody>
      </p:sp>
      <p:sp>
        <p:nvSpPr>
          <p:cNvPr id="16" name="Text 14"/>
          <p:cNvSpPr/>
          <p:nvPr/>
        </p:nvSpPr>
        <p:spPr>
          <a:xfrm>
            <a:off x="7982712" y="1874520"/>
            <a:ext cx="2916936" cy="16276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Se misturarmos o tempo, criarmos valores artificiais ou ignorarmos anomalias, podemos chegar a uma conclusão tecnicamente frágil.</a:t>
            </a:r>
            <a:endParaRPr lang="en-US" sz="1220" dirty="0"/>
          </a:p>
        </p:txBody>
      </p:sp>
      <p:sp>
        <p:nvSpPr>
          <p:cNvPr id="17" name="Text 15"/>
          <p:cNvSpPr/>
          <p:nvPr/>
        </p:nvSpPr>
        <p:spPr>
          <a:xfrm>
            <a:off x="914400" y="4251960"/>
            <a:ext cx="10332720" cy="548640"/>
          </a:xfrm>
          <a:prstGeom prst="rect">
            <a:avLst/>
          </a:prstGeom>
          <a:noFill/>
          <a:ln/>
        </p:spPr>
        <p:txBody>
          <a:bodyPr wrap="square" lIns="635" tIns="635" rIns="635" bIns="635" rtlCol="0" anchor="ctr"/>
          <a:lstStyle/>
          <a:p>
            <a:pPr marL="0" indent="0" algn="ctr">
              <a:buNone/>
            </a:pPr>
            <a:r>
              <a:rPr lang="en-US" sz="1900" b="1" dirty="0">
                <a:solidFill>
                  <a:srgbClr val="002B5C"/>
                </a:solidFill>
              </a:rPr>
              <a:t>Analogia simples: uma série temporal é como um filme. Se embaralharmos as cenas, perdemos a história.</a:t>
            </a:r>
            <a:endParaRPr lang="en-US" sz="1900" dirty="0"/>
          </a:p>
        </p:txBody>
      </p:sp>
      <p:sp>
        <p:nvSpPr>
          <p:cNvPr id="18" name="Shape 16"/>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9" name="Text 17"/>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0" name="Text 18"/>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77500" lnSpcReduction="20000"/>
          </a:bodyPr>
          <a:lstStyle/>
          <a:p>
            <a:pPr marL="0" indent="0">
              <a:buNone/>
            </a:pPr>
            <a:r>
              <a:rPr lang="en-US" sz="2700" b="1" dirty="0">
                <a:solidFill>
                  <a:srgbClr val="002B5C"/>
                </a:solidFill>
              </a:rPr>
              <a:t>Preparação dos dados: o cuidado que evita conclusões falsas</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Dados faltantes não são todos iguais; alguns representam ausência estrutural.</a:t>
            </a:r>
            <a:endParaRPr lang="en-US" sz="1250" dirty="0"/>
          </a:p>
        </p:txBody>
      </p:sp>
      <p:sp>
        <p:nvSpPr>
          <p:cNvPr id="8" name="Shape 6"/>
          <p:cNvSpPr/>
          <p:nvPr/>
        </p:nvSpPr>
        <p:spPr>
          <a:xfrm>
            <a:off x="685800" y="1508760"/>
            <a:ext cx="3337560" cy="1600200"/>
          </a:xfrm>
          <a:prstGeom prst="roundRect">
            <a:avLst/>
          </a:prstGeom>
          <a:solidFill>
            <a:srgbClr val="FFFFFF"/>
          </a:solidFill>
          <a:ln w="12700">
            <a:solidFill>
              <a:srgbClr val="E2E8F0"/>
            </a:solidFill>
            <a:prstDash val="solid"/>
          </a:ln>
        </p:spPr>
        <p:txBody>
          <a:bodyPr/>
          <a:lstStyle/>
          <a:p>
            <a:endParaRPr lang="pt-BR"/>
          </a:p>
        </p:txBody>
      </p:sp>
      <p:sp>
        <p:nvSpPr>
          <p:cNvPr id="9" name="Text 7"/>
          <p:cNvSpPr/>
          <p:nvPr/>
        </p:nvSpPr>
        <p:spPr>
          <a:xfrm>
            <a:off x="850392" y="1645920"/>
            <a:ext cx="300837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1. Consolidação diária</a:t>
            </a:r>
            <a:endParaRPr lang="en-US" sz="1350" dirty="0"/>
          </a:p>
        </p:txBody>
      </p:sp>
      <p:sp>
        <p:nvSpPr>
          <p:cNvPr id="10" name="Text 8"/>
          <p:cNvSpPr/>
          <p:nvPr/>
        </p:nvSpPr>
        <p:spPr>
          <a:xfrm>
            <a:off x="850392" y="1965960"/>
            <a:ext cx="3008376" cy="10332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Os registros foram agrupados por dia e sensor. Isso reduz ruído e segue a recomendação do especialista.</a:t>
            </a:r>
            <a:endParaRPr lang="en-US" sz="1220" dirty="0"/>
          </a:p>
        </p:txBody>
      </p:sp>
      <p:sp>
        <p:nvSpPr>
          <p:cNvPr id="11" name="Shape 9"/>
          <p:cNvSpPr/>
          <p:nvPr/>
        </p:nvSpPr>
        <p:spPr>
          <a:xfrm>
            <a:off x="4343400" y="1508760"/>
            <a:ext cx="3337560" cy="1600200"/>
          </a:xfrm>
          <a:prstGeom prst="roundRect">
            <a:avLst/>
          </a:prstGeom>
          <a:solidFill>
            <a:srgbClr val="FFFFFF"/>
          </a:solidFill>
          <a:ln w="12700">
            <a:solidFill>
              <a:srgbClr val="E2E8F0"/>
            </a:solidFill>
            <a:prstDash val="solid"/>
          </a:ln>
        </p:spPr>
        <p:txBody>
          <a:bodyPr/>
          <a:lstStyle/>
          <a:p>
            <a:endParaRPr lang="pt-BR"/>
          </a:p>
        </p:txBody>
      </p:sp>
      <p:sp>
        <p:nvSpPr>
          <p:cNvPr id="12" name="Text 10"/>
          <p:cNvSpPr/>
          <p:nvPr/>
        </p:nvSpPr>
        <p:spPr>
          <a:xfrm>
            <a:off x="4507992" y="1645920"/>
            <a:ext cx="300837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2. Diagnóstico de ausências</a:t>
            </a:r>
            <a:endParaRPr lang="en-US" sz="1350" dirty="0"/>
          </a:p>
        </p:txBody>
      </p:sp>
      <p:sp>
        <p:nvSpPr>
          <p:cNvPr id="13" name="Text 11"/>
          <p:cNvSpPr/>
          <p:nvPr/>
        </p:nvSpPr>
        <p:spPr>
          <a:xfrm>
            <a:off x="4507992" y="1965960"/>
            <a:ext cx="3008376" cy="10332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Após o pivoteamento, ainda existem NaNs porque nem todos os sensores medem em todos os dias.</a:t>
            </a:r>
            <a:endParaRPr lang="en-US" sz="1220" dirty="0"/>
          </a:p>
        </p:txBody>
      </p:sp>
      <p:sp>
        <p:nvSpPr>
          <p:cNvPr id="14" name="Shape 12"/>
          <p:cNvSpPr/>
          <p:nvPr/>
        </p:nvSpPr>
        <p:spPr>
          <a:xfrm>
            <a:off x="8001000" y="1508760"/>
            <a:ext cx="3337560" cy="1600200"/>
          </a:xfrm>
          <a:prstGeom prst="roundRect">
            <a:avLst/>
          </a:prstGeom>
          <a:solidFill>
            <a:srgbClr val="EAF3FF"/>
          </a:solidFill>
          <a:ln w="12700">
            <a:solidFill>
              <a:srgbClr val="BBD7FF"/>
            </a:solidFill>
            <a:prstDash val="solid"/>
          </a:ln>
        </p:spPr>
        <p:txBody>
          <a:bodyPr/>
          <a:lstStyle/>
          <a:p>
            <a:endParaRPr lang="pt-BR"/>
          </a:p>
        </p:txBody>
      </p:sp>
      <p:sp>
        <p:nvSpPr>
          <p:cNvPr id="15" name="Text 13"/>
          <p:cNvSpPr/>
          <p:nvPr/>
        </p:nvSpPr>
        <p:spPr>
          <a:xfrm>
            <a:off x="8165592" y="1645920"/>
            <a:ext cx="300837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3. Tratamento técnico</a:t>
            </a:r>
            <a:endParaRPr lang="en-US" sz="1350" dirty="0"/>
          </a:p>
        </p:txBody>
      </p:sp>
      <p:sp>
        <p:nvSpPr>
          <p:cNvPr id="16" name="Text 14"/>
          <p:cNvSpPr/>
          <p:nvPr/>
        </p:nvSpPr>
        <p:spPr>
          <a:xfrm>
            <a:off x="8165592" y="1965960"/>
            <a:ext cx="3008376" cy="10332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Remover sensores/dias muito incompletos e interpolar apenas lacunas pequenas, preservando coerência física.</a:t>
            </a:r>
            <a:endParaRPr lang="en-US" sz="1220" dirty="0"/>
          </a:p>
        </p:txBody>
      </p:sp>
      <p:sp>
        <p:nvSpPr>
          <p:cNvPr id="17" name="Shape 15"/>
          <p:cNvSpPr/>
          <p:nvPr/>
        </p:nvSpPr>
        <p:spPr>
          <a:xfrm>
            <a:off x="1051560" y="4069080"/>
            <a:ext cx="9966960" cy="960120"/>
          </a:xfrm>
          <a:prstGeom prst="roundRect">
            <a:avLst/>
          </a:prstGeom>
          <a:solidFill>
            <a:srgbClr val="002B5C"/>
          </a:solidFill>
          <a:ln w="12700">
            <a:solidFill>
              <a:srgbClr val="002B5C"/>
            </a:solidFill>
            <a:prstDash val="solid"/>
          </a:ln>
        </p:spPr>
        <p:txBody>
          <a:bodyPr/>
          <a:lstStyle/>
          <a:p>
            <a:endParaRPr lang="pt-BR"/>
          </a:p>
        </p:txBody>
      </p:sp>
      <p:sp>
        <p:nvSpPr>
          <p:cNvPr id="18" name="Text 16"/>
          <p:cNvSpPr/>
          <p:nvPr/>
        </p:nvSpPr>
        <p:spPr>
          <a:xfrm>
            <a:off x="1234440" y="4315968"/>
            <a:ext cx="9601200" cy="411480"/>
          </a:xfrm>
          <a:prstGeom prst="rect">
            <a:avLst/>
          </a:prstGeom>
          <a:noFill/>
          <a:ln/>
        </p:spPr>
        <p:txBody>
          <a:bodyPr wrap="square" lIns="254" tIns="254" rIns="254" bIns="254" rtlCol="0" anchor="ctr">
            <a:normAutofit fontScale="85000" lnSpcReduction="20000"/>
          </a:bodyPr>
          <a:lstStyle/>
          <a:p>
            <a:pPr marL="0" indent="0" algn="ctr">
              <a:buNone/>
            </a:pPr>
            <a:r>
              <a:rPr lang="en-US" sz="1800" b="1" dirty="0">
                <a:solidFill>
                  <a:srgbClr val="FFFFFF"/>
                </a:solidFill>
              </a:rPr>
              <a:t>Interpretação para defesa: “Não preenchi tudo automaticamente; tratei primeiro a estrutura do problema para não inventar medições.”</a:t>
            </a:r>
            <a:endParaRPr lang="en-US" sz="1800" dirty="0"/>
          </a:p>
        </p:txBody>
      </p:sp>
      <p:sp>
        <p:nvSpPr>
          <p:cNvPr id="19" name="Shape 17"/>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20" name="Text 18"/>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1" name="Text 19"/>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62500" lnSpcReduction="20000"/>
          </a:bodyPr>
          <a:lstStyle/>
          <a:p>
            <a:pPr marL="0" indent="0">
              <a:buNone/>
            </a:pPr>
            <a:r>
              <a:rPr lang="en-US" sz="2700" b="1" dirty="0">
                <a:solidFill>
                  <a:srgbClr val="002B5C"/>
                </a:solidFill>
              </a:rPr>
              <a:t>Detecção de anomalias: onde o sensor saiu do comportamento esperado</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Exemplo: sensor_22 com pontos anômalos destacados em vermelho.</a:t>
            </a:r>
            <a:endParaRPr lang="en-US" sz="1250" dirty="0"/>
          </a:p>
        </p:txBody>
      </p:sp>
      <p:sp>
        <p:nvSpPr>
          <p:cNvPr id="8" name="Shape 6"/>
          <p:cNvSpPr/>
          <p:nvPr/>
        </p:nvSpPr>
        <p:spPr>
          <a:xfrm>
            <a:off x="557784" y="1380744"/>
            <a:ext cx="7616952" cy="304495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0).png"/>
          <p:cNvPicPr>
            <a:picLocks noChangeAspect="1"/>
          </p:cNvPicPr>
          <p:nvPr/>
        </p:nvPicPr>
        <p:blipFill>
          <a:blip r:embed="rId3"/>
          <a:stretch>
            <a:fillRect/>
          </a:stretch>
        </p:blipFill>
        <p:spPr>
          <a:xfrm>
            <a:off x="670479" y="1417320"/>
            <a:ext cx="7391562" cy="2971800"/>
          </a:xfrm>
          <a:prstGeom prst="rect">
            <a:avLst/>
          </a:prstGeom>
        </p:spPr>
      </p:pic>
      <p:sp>
        <p:nvSpPr>
          <p:cNvPr id="10" name="Shape 7"/>
          <p:cNvSpPr/>
          <p:nvPr/>
        </p:nvSpPr>
        <p:spPr>
          <a:xfrm>
            <a:off x="8458200" y="1463040"/>
            <a:ext cx="3063240" cy="1325880"/>
          </a:xfrm>
          <a:prstGeom prst="roundRect">
            <a:avLst/>
          </a:prstGeom>
          <a:solidFill>
            <a:srgbClr val="FFFFFF"/>
          </a:solidFill>
          <a:ln w="12700">
            <a:solidFill>
              <a:srgbClr val="E2E8F0"/>
            </a:solidFill>
            <a:prstDash val="solid"/>
          </a:ln>
        </p:spPr>
        <p:txBody>
          <a:bodyPr/>
          <a:lstStyle/>
          <a:p>
            <a:endParaRPr lang="pt-BR"/>
          </a:p>
        </p:txBody>
      </p:sp>
      <p:sp>
        <p:nvSpPr>
          <p:cNvPr id="11" name="Text 8"/>
          <p:cNvSpPr/>
          <p:nvPr/>
        </p:nvSpPr>
        <p:spPr>
          <a:xfrm>
            <a:off x="8622792" y="1600200"/>
            <a:ext cx="273405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Como ler o gráfico</a:t>
            </a:r>
            <a:endParaRPr lang="en-US" sz="1350" dirty="0"/>
          </a:p>
        </p:txBody>
      </p:sp>
      <p:sp>
        <p:nvSpPr>
          <p:cNvPr id="12" name="Text 9"/>
          <p:cNvSpPr/>
          <p:nvPr/>
        </p:nvSpPr>
        <p:spPr>
          <a:xfrm>
            <a:off x="8622792" y="1920240"/>
            <a:ext cx="2734056" cy="75895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A linha azul mostra a medição diária. Os pontos vermelhos representam valores muito distantes do padrão do sensor.</a:t>
            </a:r>
            <a:endParaRPr lang="en-US" sz="1220" dirty="0"/>
          </a:p>
        </p:txBody>
      </p:sp>
      <p:sp>
        <p:nvSpPr>
          <p:cNvPr id="13" name="Shape 10"/>
          <p:cNvSpPr/>
          <p:nvPr/>
        </p:nvSpPr>
        <p:spPr>
          <a:xfrm>
            <a:off x="8458200" y="3108960"/>
            <a:ext cx="3063240" cy="1691640"/>
          </a:xfrm>
          <a:prstGeom prst="roundRect">
            <a:avLst/>
          </a:prstGeom>
          <a:solidFill>
            <a:srgbClr val="FFF1F2"/>
          </a:solidFill>
          <a:ln w="12700">
            <a:solidFill>
              <a:srgbClr val="FFCCD3"/>
            </a:solidFill>
            <a:prstDash val="solid"/>
          </a:ln>
        </p:spPr>
        <p:txBody>
          <a:bodyPr/>
          <a:lstStyle/>
          <a:p>
            <a:endParaRPr lang="pt-BR"/>
          </a:p>
        </p:txBody>
      </p:sp>
      <p:sp>
        <p:nvSpPr>
          <p:cNvPr id="14" name="Text 11"/>
          <p:cNvSpPr/>
          <p:nvPr/>
        </p:nvSpPr>
        <p:spPr>
          <a:xfrm>
            <a:off x="8622792" y="3246120"/>
            <a:ext cx="2734056" cy="219456"/>
          </a:xfrm>
          <a:prstGeom prst="rect">
            <a:avLst/>
          </a:prstGeom>
          <a:noFill/>
          <a:ln/>
        </p:spPr>
        <p:txBody>
          <a:bodyPr wrap="square" lIns="127" tIns="127" rIns="127" bIns="127" rtlCol="0" anchor="ctr">
            <a:normAutofit/>
          </a:bodyPr>
          <a:lstStyle/>
          <a:p>
            <a:pPr marL="0" indent="0">
              <a:buNone/>
            </a:pPr>
            <a:r>
              <a:rPr lang="en-US" sz="1350" b="1" dirty="0">
                <a:solidFill>
                  <a:srgbClr val="E30613"/>
                </a:solidFill>
              </a:rPr>
              <a:t>Leitura técnica</a:t>
            </a:r>
            <a:endParaRPr lang="en-US" sz="1350" dirty="0"/>
          </a:p>
        </p:txBody>
      </p:sp>
      <p:sp>
        <p:nvSpPr>
          <p:cNvPr id="15" name="Text 12"/>
          <p:cNvSpPr/>
          <p:nvPr/>
        </p:nvSpPr>
        <p:spPr>
          <a:xfrm>
            <a:off x="8622792" y="3566160"/>
            <a:ext cx="2734056" cy="112471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Há um pico muito alto e vários pontos baixos concentrados após 2018. Isso pode indicar falha de leitura, mudança de comportamento ou evento físico.</a:t>
            </a:r>
            <a:endParaRPr lang="en-US" sz="1220" dirty="0"/>
          </a:p>
        </p:txBody>
      </p:sp>
      <p:sp>
        <p:nvSpPr>
          <p:cNvPr id="16" name="Shape 13"/>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7" name="Text 14"/>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8" name="Text 15"/>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Por que usar Mediana + MAD?</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Uma forma robusta de identificar valores extremos sem deixar que os próprios extremos distorçam a regra.</a:t>
            </a:r>
            <a:endParaRPr lang="en-US" sz="1250" dirty="0"/>
          </a:p>
        </p:txBody>
      </p:sp>
      <p:sp>
        <p:nvSpPr>
          <p:cNvPr id="8" name="Shape 6"/>
          <p:cNvSpPr/>
          <p:nvPr/>
        </p:nvSpPr>
        <p:spPr>
          <a:xfrm>
            <a:off x="777240" y="1417320"/>
            <a:ext cx="3383280" cy="2011680"/>
          </a:xfrm>
          <a:prstGeom prst="roundRect">
            <a:avLst/>
          </a:prstGeom>
          <a:solidFill>
            <a:srgbClr val="FFFFFF"/>
          </a:solidFill>
          <a:ln w="12700">
            <a:solidFill>
              <a:srgbClr val="E2E8F0"/>
            </a:solidFill>
            <a:prstDash val="solid"/>
          </a:ln>
        </p:spPr>
        <p:txBody>
          <a:bodyPr/>
          <a:lstStyle/>
          <a:p>
            <a:endParaRPr lang="pt-BR"/>
          </a:p>
        </p:txBody>
      </p:sp>
      <p:sp>
        <p:nvSpPr>
          <p:cNvPr id="9" name="Text 7"/>
          <p:cNvSpPr/>
          <p:nvPr/>
        </p:nvSpPr>
        <p:spPr>
          <a:xfrm>
            <a:off x="941832" y="155448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Média e desvio padrão</a:t>
            </a:r>
            <a:endParaRPr lang="en-US" sz="1350" dirty="0"/>
          </a:p>
        </p:txBody>
      </p:sp>
      <p:sp>
        <p:nvSpPr>
          <p:cNvPr id="10" name="Text 8"/>
          <p:cNvSpPr/>
          <p:nvPr/>
        </p:nvSpPr>
        <p:spPr>
          <a:xfrm>
            <a:off x="941832" y="1874520"/>
            <a:ext cx="3054096" cy="144475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Funcionam bem em dados “comportados”, mas são sensíveis a valores extremos. Um único pico pode deslocar a média.</a:t>
            </a:r>
            <a:endParaRPr lang="en-US" sz="1220" dirty="0"/>
          </a:p>
        </p:txBody>
      </p:sp>
      <p:sp>
        <p:nvSpPr>
          <p:cNvPr id="11" name="Shape 9"/>
          <p:cNvSpPr/>
          <p:nvPr/>
        </p:nvSpPr>
        <p:spPr>
          <a:xfrm>
            <a:off x="4434840" y="1417320"/>
            <a:ext cx="3383280" cy="2011680"/>
          </a:xfrm>
          <a:prstGeom prst="roundRect">
            <a:avLst/>
          </a:prstGeom>
          <a:solidFill>
            <a:srgbClr val="EAF3FF"/>
          </a:solidFill>
          <a:ln w="12700">
            <a:solidFill>
              <a:srgbClr val="BBD7FF"/>
            </a:solidFill>
            <a:prstDash val="solid"/>
          </a:ln>
        </p:spPr>
        <p:txBody>
          <a:bodyPr/>
          <a:lstStyle/>
          <a:p>
            <a:endParaRPr lang="pt-BR"/>
          </a:p>
        </p:txBody>
      </p:sp>
      <p:sp>
        <p:nvSpPr>
          <p:cNvPr id="12" name="Text 10"/>
          <p:cNvSpPr/>
          <p:nvPr/>
        </p:nvSpPr>
        <p:spPr>
          <a:xfrm>
            <a:off x="4599432" y="155448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Mediana e MAD</a:t>
            </a:r>
            <a:endParaRPr lang="en-US" sz="1350" dirty="0"/>
          </a:p>
        </p:txBody>
      </p:sp>
      <p:sp>
        <p:nvSpPr>
          <p:cNvPr id="13" name="Text 11"/>
          <p:cNvSpPr/>
          <p:nvPr/>
        </p:nvSpPr>
        <p:spPr>
          <a:xfrm>
            <a:off x="4599432" y="1874520"/>
            <a:ext cx="3054096" cy="144475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Representam melhor o centro e a dispersão quando há outliers. A mediana quase não muda com um valor absurdo.</a:t>
            </a:r>
            <a:endParaRPr lang="en-US" sz="1220" dirty="0"/>
          </a:p>
        </p:txBody>
      </p:sp>
      <p:sp>
        <p:nvSpPr>
          <p:cNvPr id="14" name="Shape 12"/>
          <p:cNvSpPr/>
          <p:nvPr/>
        </p:nvSpPr>
        <p:spPr>
          <a:xfrm>
            <a:off x="8092440" y="1417320"/>
            <a:ext cx="3383280" cy="2011680"/>
          </a:xfrm>
          <a:prstGeom prst="roundRect">
            <a:avLst/>
          </a:prstGeom>
          <a:solidFill>
            <a:srgbClr val="FFF1F2"/>
          </a:solidFill>
          <a:ln w="12700">
            <a:solidFill>
              <a:srgbClr val="FFCCD3"/>
            </a:solidFill>
            <a:prstDash val="solid"/>
          </a:ln>
        </p:spPr>
        <p:txBody>
          <a:bodyPr/>
          <a:lstStyle/>
          <a:p>
            <a:endParaRPr lang="pt-BR"/>
          </a:p>
        </p:txBody>
      </p:sp>
      <p:sp>
        <p:nvSpPr>
          <p:cNvPr id="15" name="Text 13"/>
          <p:cNvSpPr/>
          <p:nvPr/>
        </p:nvSpPr>
        <p:spPr>
          <a:xfrm>
            <a:off x="8257032" y="155448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E30613"/>
                </a:solidFill>
              </a:rPr>
              <a:t>Regra usada</a:t>
            </a:r>
            <a:endParaRPr lang="en-US" sz="1350" dirty="0"/>
          </a:p>
        </p:txBody>
      </p:sp>
      <p:sp>
        <p:nvSpPr>
          <p:cNvPr id="16" name="Text 14"/>
          <p:cNvSpPr/>
          <p:nvPr/>
        </p:nvSpPr>
        <p:spPr>
          <a:xfrm>
            <a:off x="8257032" y="1874520"/>
            <a:ext cx="3054096" cy="144475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Um ponto é anômalo quando |robust_z| &gt; 3.5, ou seja, quando ele está muito longe do comportamento típico.</a:t>
            </a:r>
            <a:endParaRPr lang="en-US" sz="1220" dirty="0"/>
          </a:p>
        </p:txBody>
      </p:sp>
      <p:sp>
        <p:nvSpPr>
          <p:cNvPr id="17" name="Text 15"/>
          <p:cNvSpPr/>
          <p:nvPr/>
        </p:nvSpPr>
        <p:spPr>
          <a:xfrm>
            <a:off x="1005840" y="4389120"/>
            <a:ext cx="10149840" cy="640080"/>
          </a:xfrm>
          <a:prstGeom prst="rect">
            <a:avLst/>
          </a:prstGeom>
          <a:noFill/>
          <a:ln/>
        </p:spPr>
        <p:txBody>
          <a:bodyPr wrap="square" lIns="254" tIns="254" rIns="254" bIns="254" rtlCol="0" anchor="ctr">
            <a:normAutofit/>
          </a:bodyPr>
          <a:lstStyle/>
          <a:p>
            <a:pPr marL="0" indent="0" algn="ctr">
              <a:buNone/>
            </a:pPr>
            <a:r>
              <a:rPr lang="en-US" sz="1900" b="1" dirty="0">
                <a:solidFill>
                  <a:srgbClr val="002B5C"/>
                </a:solidFill>
              </a:rPr>
              <a:t>Analogia: se uma turma tem notas 6, 7, 7, 8 e uma nota 100, a média fica enganada; a mediana continua representando a turma.</a:t>
            </a:r>
            <a:endParaRPr lang="en-US" sz="1900" dirty="0"/>
          </a:p>
        </p:txBody>
      </p:sp>
      <p:sp>
        <p:nvSpPr>
          <p:cNvPr id="18" name="Shape 16"/>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9" name="Text 17"/>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0" name="Text 18"/>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92500"/>
          </a:bodyPr>
          <a:lstStyle/>
          <a:p>
            <a:pPr marL="0" indent="0">
              <a:buNone/>
            </a:pPr>
            <a:r>
              <a:rPr lang="en-US" sz="2700" b="1" dirty="0">
                <a:solidFill>
                  <a:srgbClr val="002B5C"/>
                </a:solidFill>
              </a:rPr>
              <a:t>Normalização: comparar sensores na mesma régua</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MinMax transforma os valores para uma escala comum entre 0 e 1.</a:t>
            </a:r>
            <a:endParaRPr lang="en-US" sz="1250" dirty="0"/>
          </a:p>
        </p:txBody>
      </p:sp>
      <p:sp>
        <p:nvSpPr>
          <p:cNvPr id="8" name="Shape 6"/>
          <p:cNvSpPr/>
          <p:nvPr/>
        </p:nvSpPr>
        <p:spPr>
          <a:xfrm>
            <a:off x="557784" y="1426464"/>
            <a:ext cx="5422392" cy="185623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1).png"/>
          <p:cNvPicPr>
            <a:picLocks noChangeAspect="1"/>
          </p:cNvPicPr>
          <p:nvPr/>
        </p:nvPicPr>
        <p:blipFill>
          <a:blip r:embed="rId3"/>
          <a:stretch>
            <a:fillRect/>
          </a:stretch>
        </p:blipFill>
        <p:spPr>
          <a:xfrm>
            <a:off x="646537" y="1463040"/>
            <a:ext cx="5244887" cy="1783080"/>
          </a:xfrm>
          <a:prstGeom prst="rect">
            <a:avLst/>
          </a:prstGeom>
        </p:spPr>
      </p:pic>
      <p:sp>
        <p:nvSpPr>
          <p:cNvPr id="10" name="Shape 7"/>
          <p:cNvSpPr/>
          <p:nvPr/>
        </p:nvSpPr>
        <p:spPr>
          <a:xfrm>
            <a:off x="6227064" y="1426464"/>
            <a:ext cx="5422392" cy="1856232"/>
          </a:xfrm>
          <a:prstGeom prst="roundRect">
            <a:avLst/>
          </a:prstGeom>
          <a:solidFill>
            <a:srgbClr val="FFFFFF"/>
          </a:solidFill>
          <a:ln w="12700">
            <a:solidFill>
              <a:srgbClr val="E2E8F0"/>
            </a:solidFill>
            <a:prstDash val="solid"/>
          </a:ln>
        </p:spPr>
        <p:txBody>
          <a:bodyPr/>
          <a:lstStyle/>
          <a:p>
            <a:endParaRPr lang="pt-BR"/>
          </a:p>
        </p:txBody>
      </p:sp>
      <p:pic>
        <p:nvPicPr>
          <p:cNvPr id="11" name="Image 1" descr="/mnt/data/image(32).png"/>
          <p:cNvPicPr>
            <a:picLocks noChangeAspect="1"/>
          </p:cNvPicPr>
          <p:nvPr/>
        </p:nvPicPr>
        <p:blipFill>
          <a:blip r:embed="rId4"/>
          <a:stretch>
            <a:fillRect/>
          </a:stretch>
        </p:blipFill>
        <p:spPr>
          <a:xfrm>
            <a:off x="6315817" y="1463040"/>
            <a:ext cx="5244887" cy="1783080"/>
          </a:xfrm>
          <a:prstGeom prst="rect">
            <a:avLst/>
          </a:prstGeom>
        </p:spPr>
      </p:pic>
      <p:sp>
        <p:nvSpPr>
          <p:cNvPr id="12" name="Shape 8"/>
          <p:cNvSpPr/>
          <p:nvPr/>
        </p:nvSpPr>
        <p:spPr>
          <a:xfrm>
            <a:off x="914400" y="3886200"/>
            <a:ext cx="10332720" cy="1005840"/>
          </a:xfrm>
          <a:prstGeom prst="roundRect">
            <a:avLst/>
          </a:prstGeom>
          <a:solidFill>
            <a:srgbClr val="EAF3FF"/>
          </a:solidFill>
          <a:ln w="12700">
            <a:solidFill>
              <a:srgbClr val="BBD7FF"/>
            </a:solidFill>
            <a:prstDash val="solid"/>
          </a:ln>
        </p:spPr>
        <p:txBody>
          <a:bodyPr/>
          <a:lstStyle/>
          <a:p>
            <a:endParaRPr lang="pt-BR"/>
          </a:p>
        </p:txBody>
      </p:sp>
      <p:sp>
        <p:nvSpPr>
          <p:cNvPr id="13" name="Text 9"/>
          <p:cNvSpPr/>
          <p:nvPr/>
        </p:nvSpPr>
        <p:spPr>
          <a:xfrm>
            <a:off x="1078992" y="4023360"/>
            <a:ext cx="100035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Interpretação</a:t>
            </a:r>
            <a:endParaRPr lang="en-US" sz="1350" dirty="0"/>
          </a:p>
        </p:txBody>
      </p:sp>
      <p:sp>
        <p:nvSpPr>
          <p:cNvPr id="14" name="Text 10"/>
          <p:cNvSpPr/>
          <p:nvPr/>
        </p:nvSpPr>
        <p:spPr>
          <a:xfrm>
            <a:off x="1078992" y="4343400"/>
            <a:ext cx="10003536" cy="43891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Com anomalias, a escala pode ser comprimida ou distorcida. Após o tratamento, a variação normal fica mais representativa para análise e modelagem.</a:t>
            </a:r>
            <a:endParaRPr lang="en-US" sz="1220" dirty="0"/>
          </a:p>
        </p:txBody>
      </p:sp>
      <p:sp>
        <p:nvSpPr>
          <p:cNvPr id="15" name="Shape 11"/>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6" name="Text 12"/>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7" name="Text 13"/>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70000" lnSpcReduction="20000"/>
          </a:bodyPr>
          <a:lstStyle/>
          <a:p>
            <a:pPr marL="0" indent="0">
              <a:buNone/>
            </a:pPr>
            <a:r>
              <a:rPr lang="en-US" sz="2700" b="1" dirty="0">
                <a:solidFill>
                  <a:srgbClr val="002B5C"/>
                </a:solidFill>
              </a:rPr>
              <a:t>Após tratar anomalias: a série fica mais estável para modelagem</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Sensor_1 normalizado após tratamento.</a:t>
            </a:r>
            <a:endParaRPr lang="en-US" sz="1250" dirty="0"/>
          </a:p>
        </p:txBody>
      </p:sp>
      <p:sp>
        <p:nvSpPr>
          <p:cNvPr id="8" name="Shape 6"/>
          <p:cNvSpPr/>
          <p:nvPr/>
        </p:nvSpPr>
        <p:spPr>
          <a:xfrm>
            <a:off x="740664" y="1380744"/>
            <a:ext cx="7296912" cy="267919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3).png"/>
          <p:cNvPicPr>
            <a:picLocks noChangeAspect="1"/>
          </p:cNvPicPr>
          <p:nvPr/>
        </p:nvPicPr>
        <p:blipFill>
          <a:blip r:embed="rId3"/>
          <a:stretch>
            <a:fillRect/>
          </a:stretch>
        </p:blipFill>
        <p:spPr>
          <a:xfrm>
            <a:off x="777240" y="1489301"/>
            <a:ext cx="7223760" cy="2462077"/>
          </a:xfrm>
          <a:prstGeom prst="rect">
            <a:avLst/>
          </a:prstGeom>
        </p:spPr>
      </p:pic>
      <p:sp>
        <p:nvSpPr>
          <p:cNvPr id="10" name="Shape 7"/>
          <p:cNvSpPr/>
          <p:nvPr/>
        </p:nvSpPr>
        <p:spPr>
          <a:xfrm>
            <a:off x="8366760" y="1463040"/>
            <a:ext cx="2971800" cy="1691640"/>
          </a:xfrm>
          <a:prstGeom prst="roundRect">
            <a:avLst/>
          </a:prstGeom>
          <a:solidFill>
            <a:srgbClr val="FFFFFF"/>
          </a:solidFill>
          <a:ln w="12700">
            <a:solidFill>
              <a:srgbClr val="E2E8F0"/>
            </a:solidFill>
            <a:prstDash val="solid"/>
          </a:ln>
        </p:spPr>
        <p:txBody>
          <a:bodyPr/>
          <a:lstStyle/>
          <a:p>
            <a:endParaRPr lang="pt-BR"/>
          </a:p>
        </p:txBody>
      </p:sp>
      <p:sp>
        <p:nvSpPr>
          <p:cNvPr id="11" name="Text 8"/>
          <p:cNvSpPr/>
          <p:nvPr/>
        </p:nvSpPr>
        <p:spPr>
          <a:xfrm>
            <a:off x="8531352" y="1600200"/>
            <a:ext cx="264261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O que mudou?</a:t>
            </a:r>
            <a:endParaRPr lang="en-US" sz="1350" dirty="0"/>
          </a:p>
        </p:txBody>
      </p:sp>
      <p:sp>
        <p:nvSpPr>
          <p:cNvPr id="12" name="Text 9"/>
          <p:cNvSpPr/>
          <p:nvPr/>
        </p:nvSpPr>
        <p:spPr>
          <a:xfrm>
            <a:off x="8531352" y="1920240"/>
            <a:ext cx="2642616" cy="112471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 comportamento principal do sensor fica mais legível. O modelo passa a aprender a dinâmica geral, em vez de ser influenciado por poucos pontos extremos.</a:t>
            </a:r>
            <a:endParaRPr lang="en-US" sz="1220" dirty="0"/>
          </a:p>
        </p:txBody>
      </p:sp>
      <p:sp>
        <p:nvSpPr>
          <p:cNvPr id="13" name="Shape 10"/>
          <p:cNvSpPr/>
          <p:nvPr/>
        </p:nvSpPr>
        <p:spPr>
          <a:xfrm>
            <a:off x="8366760" y="3520440"/>
            <a:ext cx="2971800" cy="1417320"/>
          </a:xfrm>
          <a:prstGeom prst="roundRect">
            <a:avLst/>
          </a:prstGeom>
          <a:solidFill>
            <a:srgbClr val="FFF1F2"/>
          </a:solidFill>
          <a:ln w="12700">
            <a:solidFill>
              <a:srgbClr val="FFCCD3"/>
            </a:solidFill>
            <a:prstDash val="solid"/>
          </a:ln>
        </p:spPr>
        <p:txBody>
          <a:bodyPr/>
          <a:lstStyle/>
          <a:p>
            <a:endParaRPr lang="pt-BR"/>
          </a:p>
        </p:txBody>
      </p:sp>
      <p:sp>
        <p:nvSpPr>
          <p:cNvPr id="14" name="Text 11"/>
          <p:cNvSpPr/>
          <p:nvPr/>
        </p:nvSpPr>
        <p:spPr>
          <a:xfrm>
            <a:off x="8531352" y="3657600"/>
            <a:ext cx="2642616" cy="219456"/>
          </a:xfrm>
          <a:prstGeom prst="rect">
            <a:avLst/>
          </a:prstGeom>
          <a:noFill/>
          <a:ln/>
        </p:spPr>
        <p:txBody>
          <a:bodyPr wrap="square" lIns="127" tIns="127" rIns="127" bIns="127" rtlCol="0" anchor="ctr">
            <a:normAutofit/>
          </a:bodyPr>
          <a:lstStyle/>
          <a:p>
            <a:pPr marL="0" indent="0">
              <a:buNone/>
            </a:pPr>
            <a:r>
              <a:rPr lang="en-US" sz="1350" b="1" dirty="0">
                <a:solidFill>
                  <a:srgbClr val="E30613"/>
                </a:solidFill>
              </a:rPr>
              <a:t>Cuidado importante</a:t>
            </a:r>
            <a:endParaRPr lang="en-US" sz="1350" dirty="0"/>
          </a:p>
        </p:txBody>
      </p:sp>
      <p:sp>
        <p:nvSpPr>
          <p:cNvPr id="15" name="Text 12"/>
          <p:cNvSpPr/>
          <p:nvPr/>
        </p:nvSpPr>
        <p:spPr>
          <a:xfrm>
            <a:off x="8531352" y="3977640"/>
            <a:ext cx="2642616" cy="85039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Remover anomalia não significa apagar problema. Em contexto real, as anomalias devem ser documentadas e validadas com especialista.</a:t>
            </a:r>
            <a:endParaRPr lang="en-US" sz="1220" dirty="0"/>
          </a:p>
        </p:txBody>
      </p:sp>
      <p:sp>
        <p:nvSpPr>
          <p:cNvPr id="16" name="Shape 13"/>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7" name="Text 14"/>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8" name="Text 15"/>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92500"/>
          </a:bodyPr>
          <a:lstStyle/>
          <a:p>
            <a:pPr marL="0" indent="0">
              <a:buNone/>
            </a:pPr>
            <a:r>
              <a:rPr lang="en-US" sz="2700" b="1" dirty="0">
                <a:solidFill>
                  <a:srgbClr val="002B5C"/>
                </a:solidFill>
              </a:rPr>
              <a:t>Correlação temporal: sensores se movem juntos?</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Relação entre sensor_1 e sensor_2 considerando atrasos em dias.</a:t>
            </a:r>
            <a:endParaRPr lang="en-US" sz="1250" dirty="0"/>
          </a:p>
        </p:txBody>
      </p:sp>
      <p:sp>
        <p:nvSpPr>
          <p:cNvPr id="8" name="Shape 6"/>
          <p:cNvSpPr/>
          <p:nvPr/>
        </p:nvSpPr>
        <p:spPr>
          <a:xfrm>
            <a:off x="557784" y="1426464"/>
            <a:ext cx="7662672" cy="304495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4).png"/>
          <p:cNvPicPr>
            <a:picLocks noChangeAspect="1"/>
          </p:cNvPicPr>
          <p:nvPr/>
        </p:nvPicPr>
        <p:blipFill>
          <a:blip r:embed="rId3"/>
          <a:stretch>
            <a:fillRect/>
          </a:stretch>
        </p:blipFill>
        <p:spPr>
          <a:xfrm>
            <a:off x="699662" y="1463040"/>
            <a:ext cx="7378916" cy="2971800"/>
          </a:xfrm>
          <a:prstGeom prst="rect">
            <a:avLst/>
          </a:prstGeom>
        </p:spPr>
      </p:pic>
      <p:sp>
        <p:nvSpPr>
          <p:cNvPr id="10" name="Shape 7"/>
          <p:cNvSpPr/>
          <p:nvPr/>
        </p:nvSpPr>
        <p:spPr>
          <a:xfrm>
            <a:off x="8458200" y="1463040"/>
            <a:ext cx="3017520" cy="1508760"/>
          </a:xfrm>
          <a:prstGeom prst="roundRect">
            <a:avLst/>
          </a:prstGeom>
          <a:solidFill>
            <a:srgbClr val="EAF3FF"/>
          </a:solidFill>
          <a:ln w="12700">
            <a:solidFill>
              <a:srgbClr val="BBD7FF"/>
            </a:solidFill>
            <a:prstDash val="solid"/>
          </a:ln>
        </p:spPr>
        <p:txBody>
          <a:bodyPr/>
          <a:lstStyle/>
          <a:p>
            <a:endParaRPr lang="pt-BR"/>
          </a:p>
        </p:txBody>
      </p:sp>
      <p:sp>
        <p:nvSpPr>
          <p:cNvPr id="11" name="Text 8"/>
          <p:cNvSpPr/>
          <p:nvPr/>
        </p:nvSpPr>
        <p:spPr>
          <a:xfrm>
            <a:off x="8622792" y="1600200"/>
            <a:ext cx="26883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Leitura do resultado</a:t>
            </a:r>
            <a:endParaRPr lang="en-US" sz="1350" dirty="0"/>
          </a:p>
        </p:txBody>
      </p:sp>
      <p:sp>
        <p:nvSpPr>
          <p:cNvPr id="12" name="Text 9"/>
          <p:cNvSpPr/>
          <p:nvPr/>
        </p:nvSpPr>
        <p:spPr>
          <a:xfrm>
            <a:off x="8622792" y="1920240"/>
            <a:ext cx="2688336" cy="9418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 maior valor ocorre no lag zero, com correlação próxima de 0,9. Isso indica que os sensores se movimentam juntos no mesmo período.</a:t>
            </a:r>
            <a:endParaRPr lang="en-US" sz="1220" dirty="0"/>
          </a:p>
        </p:txBody>
      </p:sp>
      <p:sp>
        <p:nvSpPr>
          <p:cNvPr id="13" name="Shape 10"/>
          <p:cNvSpPr/>
          <p:nvPr/>
        </p:nvSpPr>
        <p:spPr>
          <a:xfrm>
            <a:off x="8458200" y="3429000"/>
            <a:ext cx="3017520" cy="1417320"/>
          </a:xfrm>
          <a:prstGeom prst="roundRect">
            <a:avLst/>
          </a:prstGeom>
          <a:solidFill>
            <a:srgbClr val="FFFFFF"/>
          </a:solidFill>
          <a:ln w="12700">
            <a:solidFill>
              <a:srgbClr val="E2E8F0"/>
            </a:solidFill>
            <a:prstDash val="solid"/>
          </a:ln>
        </p:spPr>
        <p:txBody>
          <a:bodyPr/>
          <a:lstStyle/>
          <a:p>
            <a:endParaRPr lang="pt-BR"/>
          </a:p>
        </p:txBody>
      </p:sp>
      <p:sp>
        <p:nvSpPr>
          <p:cNvPr id="14" name="Text 11"/>
          <p:cNvSpPr/>
          <p:nvPr/>
        </p:nvSpPr>
        <p:spPr>
          <a:xfrm>
            <a:off x="8622792" y="3566160"/>
            <a:ext cx="26883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O que isso sugere?</a:t>
            </a:r>
            <a:endParaRPr lang="en-US" sz="1350" dirty="0"/>
          </a:p>
        </p:txBody>
      </p:sp>
      <p:sp>
        <p:nvSpPr>
          <p:cNvPr id="15" name="Text 12"/>
          <p:cNvSpPr/>
          <p:nvPr/>
        </p:nvSpPr>
        <p:spPr>
          <a:xfrm>
            <a:off x="8622792" y="3886200"/>
            <a:ext cx="2688336" cy="85039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Os sensores podem estar captando fenômenos relacionados, possivelmente por proximidade física ou resposta semelhante da estrutura.</a:t>
            </a:r>
            <a:endParaRPr lang="en-US" sz="1220" dirty="0"/>
          </a:p>
        </p:txBody>
      </p:sp>
      <p:sp>
        <p:nvSpPr>
          <p:cNvPr id="16" name="Shape 13"/>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7" name="Text 14"/>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8" name="Text 15"/>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Predição: horizonte de 7 dias</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O objetivo foi prever o sensor_1 uma semana à frente e comparar abordagens.</a:t>
            </a:r>
            <a:endParaRPr lang="en-US" sz="1250" dirty="0"/>
          </a:p>
        </p:txBody>
      </p:sp>
      <p:sp>
        <p:nvSpPr>
          <p:cNvPr id="8" name="Shape 6"/>
          <p:cNvSpPr/>
          <p:nvPr/>
        </p:nvSpPr>
        <p:spPr>
          <a:xfrm>
            <a:off x="777240" y="1325880"/>
            <a:ext cx="3383280" cy="1828800"/>
          </a:xfrm>
          <a:prstGeom prst="roundRect">
            <a:avLst/>
          </a:prstGeom>
          <a:solidFill>
            <a:srgbClr val="EAF3FF"/>
          </a:solidFill>
          <a:ln w="12700">
            <a:solidFill>
              <a:srgbClr val="BBD7FF"/>
            </a:solidFill>
            <a:prstDash val="solid"/>
          </a:ln>
        </p:spPr>
        <p:txBody>
          <a:bodyPr/>
          <a:lstStyle/>
          <a:p>
            <a:endParaRPr lang="pt-BR"/>
          </a:p>
        </p:txBody>
      </p:sp>
      <p:sp>
        <p:nvSpPr>
          <p:cNvPr id="9" name="Text 7"/>
          <p:cNvSpPr/>
          <p:nvPr/>
        </p:nvSpPr>
        <p:spPr>
          <a:xfrm>
            <a:off x="941832" y="146304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Por que 7 dias?</a:t>
            </a:r>
            <a:endParaRPr lang="en-US" sz="1350" dirty="0"/>
          </a:p>
        </p:txBody>
      </p:sp>
      <p:sp>
        <p:nvSpPr>
          <p:cNvPr id="10" name="Text 8"/>
          <p:cNvSpPr/>
          <p:nvPr/>
        </p:nvSpPr>
        <p:spPr>
          <a:xfrm>
            <a:off x="941832" y="1783080"/>
            <a:ext cx="3054096" cy="12618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É um horizonte curto o suficiente para manter previsibilidade e útil para monitoramento operacional semanal.</a:t>
            </a:r>
            <a:endParaRPr lang="en-US" sz="1220" dirty="0"/>
          </a:p>
        </p:txBody>
      </p:sp>
      <p:sp>
        <p:nvSpPr>
          <p:cNvPr id="11" name="Shape 9"/>
          <p:cNvSpPr/>
          <p:nvPr/>
        </p:nvSpPr>
        <p:spPr>
          <a:xfrm>
            <a:off x="4434840" y="1325880"/>
            <a:ext cx="3383280" cy="1828800"/>
          </a:xfrm>
          <a:prstGeom prst="roundRect">
            <a:avLst/>
          </a:prstGeom>
          <a:solidFill>
            <a:srgbClr val="FFFFFF"/>
          </a:solidFill>
          <a:ln w="12700">
            <a:solidFill>
              <a:srgbClr val="E2E8F0"/>
            </a:solidFill>
            <a:prstDash val="solid"/>
          </a:ln>
        </p:spPr>
        <p:txBody>
          <a:bodyPr/>
          <a:lstStyle/>
          <a:p>
            <a:endParaRPr lang="pt-BR"/>
          </a:p>
        </p:txBody>
      </p:sp>
      <p:sp>
        <p:nvSpPr>
          <p:cNvPr id="12" name="Text 10"/>
          <p:cNvSpPr/>
          <p:nvPr/>
        </p:nvSpPr>
        <p:spPr>
          <a:xfrm>
            <a:off x="4599432" y="146304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Modelos comparados</a:t>
            </a:r>
            <a:endParaRPr lang="en-US" sz="1350" dirty="0"/>
          </a:p>
        </p:txBody>
      </p:sp>
      <p:sp>
        <p:nvSpPr>
          <p:cNvPr id="13" name="Text 11"/>
          <p:cNvSpPr/>
          <p:nvPr/>
        </p:nvSpPr>
        <p:spPr>
          <a:xfrm>
            <a:off x="4599432" y="1783080"/>
            <a:ext cx="3054096" cy="12618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Baseline, Random Forest, XGBoost e LSTM. A comparação mostra se modelos complexos realmente agregam valor.</a:t>
            </a:r>
            <a:endParaRPr lang="en-US" sz="1220" dirty="0"/>
          </a:p>
        </p:txBody>
      </p:sp>
      <p:sp>
        <p:nvSpPr>
          <p:cNvPr id="14" name="Shape 12"/>
          <p:cNvSpPr/>
          <p:nvPr/>
        </p:nvSpPr>
        <p:spPr>
          <a:xfrm>
            <a:off x="8092440" y="1325880"/>
            <a:ext cx="3383280" cy="1828800"/>
          </a:xfrm>
          <a:prstGeom prst="roundRect">
            <a:avLst/>
          </a:prstGeom>
          <a:solidFill>
            <a:srgbClr val="FFFFFF"/>
          </a:solidFill>
          <a:ln w="12700">
            <a:solidFill>
              <a:srgbClr val="E2E8F0"/>
            </a:solidFill>
            <a:prstDash val="solid"/>
          </a:ln>
        </p:spPr>
        <p:txBody>
          <a:bodyPr/>
          <a:lstStyle/>
          <a:p>
            <a:endParaRPr lang="pt-BR"/>
          </a:p>
        </p:txBody>
      </p:sp>
      <p:sp>
        <p:nvSpPr>
          <p:cNvPr id="15" name="Text 13"/>
          <p:cNvSpPr/>
          <p:nvPr/>
        </p:nvSpPr>
        <p:spPr>
          <a:xfrm>
            <a:off x="8257032" y="146304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Critérios</a:t>
            </a:r>
            <a:endParaRPr lang="en-US" sz="1350" dirty="0"/>
          </a:p>
        </p:txBody>
      </p:sp>
      <p:sp>
        <p:nvSpPr>
          <p:cNvPr id="16" name="Text 14"/>
          <p:cNvSpPr/>
          <p:nvPr/>
        </p:nvSpPr>
        <p:spPr>
          <a:xfrm>
            <a:off x="8257032" y="1783080"/>
            <a:ext cx="3054096" cy="12618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MAE mede erro médio. RMSE pune erros grandes. R² mostra quanto da variação foi explicada.</a:t>
            </a:r>
            <a:endParaRPr lang="en-US" sz="1220" dirty="0"/>
          </a:p>
        </p:txBody>
      </p:sp>
      <p:sp>
        <p:nvSpPr>
          <p:cNvPr id="17" name="Text 15"/>
          <p:cNvSpPr/>
          <p:nvPr/>
        </p:nvSpPr>
        <p:spPr>
          <a:xfrm>
            <a:off x="1005840" y="4160520"/>
            <a:ext cx="10149840" cy="548640"/>
          </a:xfrm>
          <a:prstGeom prst="rect">
            <a:avLst/>
          </a:prstGeom>
          <a:noFill/>
          <a:ln/>
        </p:spPr>
        <p:txBody>
          <a:bodyPr wrap="square" lIns="254" tIns="254" rIns="254" bIns="254" rtlCol="0" anchor="ctr"/>
          <a:lstStyle/>
          <a:p>
            <a:pPr marL="0" indent="0" algn="ctr">
              <a:buNone/>
            </a:pPr>
            <a:r>
              <a:rPr lang="en-US" sz="2000" b="1" dirty="0">
                <a:solidFill>
                  <a:srgbClr val="002B5C"/>
                </a:solidFill>
              </a:rPr>
              <a:t>Mensagem de maturidade: comparar contra baseline evita vender complexidade sem ganho real.</a:t>
            </a:r>
            <a:endParaRPr lang="en-US" sz="2000" dirty="0"/>
          </a:p>
        </p:txBody>
      </p:sp>
      <p:sp>
        <p:nvSpPr>
          <p:cNvPr id="18" name="Shape 16"/>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9" name="Text 17"/>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0" name="Text 18"/>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fontScale="85000" lnSpcReduction="10000"/>
          </a:bodyPr>
          <a:lstStyle/>
          <a:p>
            <a:pPr marL="0" indent="0">
              <a:buNone/>
            </a:pPr>
            <a:r>
              <a:rPr lang="en-US" sz="2700" b="1" dirty="0">
                <a:solidFill>
                  <a:srgbClr val="002B5C"/>
                </a:solidFill>
              </a:rPr>
              <a:t>Resultado dos modelos: o baseline foi o melhor no teste</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Interpretação honesta dos números é um ponto forte do projeto.</a:t>
            </a:r>
            <a:endParaRPr lang="en-US" sz="1250" dirty="0"/>
          </a:p>
        </p:txBody>
      </p:sp>
      <p:sp>
        <p:nvSpPr>
          <p:cNvPr id="8" name="Shape 6"/>
          <p:cNvSpPr/>
          <p:nvPr/>
        </p:nvSpPr>
        <p:spPr>
          <a:xfrm>
            <a:off x="740664" y="1426464"/>
            <a:ext cx="4416552" cy="318211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5).png"/>
          <p:cNvPicPr>
            <a:picLocks noChangeAspect="1"/>
          </p:cNvPicPr>
          <p:nvPr/>
        </p:nvPicPr>
        <p:blipFill>
          <a:blip r:embed="rId3"/>
          <a:stretch>
            <a:fillRect/>
          </a:stretch>
        </p:blipFill>
        <p:spPr>
          <a:xfrm>
            <a:off x="956407" y="1463040"/>
            <a:ext cx="3985066" cy="3108960"/>
          </a:xfrm>
          <a:prstGeom prst="rect">
            <a:avLst/>
          </a:prstGeom>
        </p:spPr>
      </p:pic>
      <p:sp>
        <p:nvSpPr>
          <p:cNvPr id="10" name="Shape 7"/>
          <p:cNvSpPr/>
          <p:nvPr/>
        </p:nvSpPr>
        <p:spPr>
          <a:xfrm>
            <a:off x="5486400" y="1463040"/>
            <a:ext cx="2788920" cy="1737360"/>
          </a:xfrm>
          <a:prstGeom prst="roundRect">
            <a:avLst/>
          </a:prstGeom>
          <a:solidFill>
            <a:srgbClr val="EAF3FF"/>
          </a:solidFill>
          <a:ln w="12700">
            <a:solidFill>
              <a:srgbClr val="BBD7FF"/>
            </a:solidFill>
            <a:prstDash val="solid"/>
          </a:ln>
        </p:spPr>
        <p:txBody>
          <a:bodyPr/>
          <a:lstStyle/>
          <a:p>
            <a:endParaRPr lang="pt-BR"/>
          </a:p>
        </p:txBody>
      </p:sp>
      <p:sp>
        <p:nvSpPr>
          <p:cNvPr id="11" name="Text 8"/>
          <p:cNvSpPr/>
          <p:nvPr/>
        </p:nvSpPr>
        <p:spPr>
          <a:xfrm>
            <a:off x="5650992" y="1600200"/>
            <a:ext cx="24597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Leitura principal</a:t>
            </a:r>
            <a:endParaRPr lang="en-US" sz="1350" dirty="0"/>
          </a:p>
        </p:txBody>
      </p:sp>
      <p:sp>
        <p:nvSpPr>
          <p:cNvPr id="12" name="Text 9"/>
          <p:cNvSpPr/>
          <p:nvPr/>
        </p:nvSpPr>
        <p:spPr>
          <a:xfrm>
            <a:off x="5650992" y="1920240"/>
            <a:ext cx="2459736" cy="11704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 baseline apresentou menor MAE e RMSE e maior R². Random Forest, XGBoost e LSTM não superaram a regra simples neste recorte.</a:t>
            </a:r>
            <a:endParaRPr lang="en-US" sz="1220" dirty="0"/>
          </a:p>
        </p:txBody>
      </p:sp>
      <p:sp>
        <p:nvSpPr>
          <p:cNvPr id="13" name="Shape 10"/>
          <p:cNvSpPr/>
          <p:nvPr/>
        </p:nvSpPr>
        <p:spPr>
          <a:xfrm>
            <a:off x="8549640" y="1463040"/>
            <a:ext cx="2788920" cy="1737360"/>
          </a:xfrm>
          <a:prstGeom prst="roundRect">
            <a:avLst/>
          </a:prstGeom>
          <a:solidFill>
            <a:srgbClr val="FFFFFF"/>
          </a:solidFill>
          <a:ln w="12700">
            <a:solidFill>
              <a:srgbClr val="E2E8F0"/>
            </a:solidFill>
            <a:prstDash val="solid"/>
          </a:ln>
        </p:spPr>
        <p:txBody>
          <a:bodyPr/>
          <a:lstStyle/>
          <a:p>
            <a:endParaRPr lang="pt-BR"/>
          </a:p>
        </p:txBody>
      </p:sp>
      <p:sp>
        <p:nvSpPr>
          <p:cNvPr id="14" name="Text 11"/>
          <p:cNvSpPr/>
          <p:nvPr/>
        </p:nvSpPr>
        <p:spPr>
          <a:xfrm>
            <a:off x="8714232" y="1600200"/>
            <a:ext cx="245973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Por que isso é aceitável?</a:t>
            </a:r>
            <a:endParaRPr lang="en-US" sz="1350" dirty="0"/>
          </a:p>
        </p:txBody>
      </p:sp>
      <p:sp>
        <p:nvSpPr>
          <p:cNvPr id="15" name="Text 12"/>
          <p:cNvSpPr/>
          <p:nvPr/>
        </p:nvSpPr>
        <p:spPr>
          <a:xfrm>
            <a:off x="8714232" y="1920240"/>
            <a:ext cx="2459736" cy="11704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Em séries com alta estabilidade local, o último valor ou média recente pode ser difícil de superar. Isso mostra maturidade analítica.</a:t>
            </a:r>
            <a:endParaRPr lang="en-US" sz="1220" dirty="0"/>
          </a:p>
        </p:txBody>
      </p:sp>
      <p:sp>
        <p:nvSpPr>
          <p:cNvPr id="16" name="Shape 13"/>
          <p:cNvSpPr/>
          <p:nvPr/>
        </p:nvSpPr>
        <p:spPr>
          <a:xfrm>
            <a:off x="6400800" y="4069080"/>
            <a:ext cx="4069080" cy="868680"/>
          </a:xfrm>
          <a:prstGeom prst="roundRect">
            <a:avLst/>
          </a:prstGeom>
          <a:solidFill>
            <a:srgbClr val="FFF1F2"/>
          </a:solidFill>
          <a:ln w="12700">
            <a:solidFill>
              <a:srgbClr val="FFCCD3"/>
            </a:solidFill>
            <a:prstDash val="solid"/>
          </a:ln>
        </p:spPr>
        <p:txBody>
          <a:bodyPr/>
          <a:lstStyle/>
          <a:p>
            <a:endParaRPr lang="pt-BR"/>
          </a:p>
        </p:txBody>
      </p:sp>
      <p:sp>
        <p:nvSpPr>
          <p:cNvPr id="17" name="Text 14"/>
          <p:cNvSpPr/>
          <p:nvPr/>
        </p:nvSpPr>
        <p:spPr>
          <a:xfrm>
            <a:off x="6565392" y="4206240"/>
            <a:ext cx="3739896" cy="219456"/>
          </a:xfrm>
          <a:prstGeom prst="rect">
            <a:avLst/>
          </a:prstGeom>
          <a:noFill/>
          <a:ln/>
        </p:spPr>
        <p:txBody>
          <a:bodyPr wrap="square" lIns="127" tIns="127" rIns="127" bIns="127" rtlCol="0" anchor="ctr">
            <a:normAutofit/>
          </a:bodyPr>
          <a:lstStyle/>
          <a:p>
            <a:pPr marL="0" indent="0">
              <a:buNone/>
            </a:pPr>
            <a:r>
              <a:rPr lang="en-US" sz="1350" b="1" dirty="0">
                <a:solidFill>
                  <a:srgbClr val="E30613"/>
                </a:solidFill>
              </a:rPr>
              <a:t>Próximo passo</a:t>
            </a:r>
            <a:endParaRPr lang="en-US" sz="1350" dirty="0"/>
          </a:p>
        </p:txBody>
      </p:sp>
      <p:sp>
        <p:nvSpPr>
          <p:cNvPr id="18" name="Text 15"/>
          <p:cNvSpPr/>
          <p:nvPr/>
        </p:nvSpPr>
        <p:spPr>
          <a:xfrm>
            <a:off x="6565392" y="4526280"/>
            <a:ext cx="3739896" cy="301752"/>
          </a:xfrm>
          <a:prstGeom prst="rect">
            <a:avLst/>
          </a:prstGeom>
          <a:noFill/>
          <a:ln/>
        </p:spPr>
        <p:txBody>
          <a:bodyPr wrap="square" lIns="254" tIns="254" rIns="254" bIns="254" rtlCol="0" anchor="t">
            <a:normAutofit fontScale="92500" lnSpcReduction="20000"/>
          </a:bodyPr>
          <a:lstStyle/>
          <a:p>
            <a:pPr marL="0" indent="0">
              <a:buNone/>
            </a:pPr>
            <a:r>
              <a:rPr lang="en-US" sz="1220" dirty="0">
                <a:solidFill>
                  <a:srgbClr val="0F172A"/>
                </a:solidFill>
              </a:rPr>
              <a:t>Ajustar features, horizonte, validação temporal e investigar anomalias/pontos de mudança.</a:t>
            </a:r>
            <a:endParaRPr lang="en-US" sz="1220" dirty="0"/>
          </a:p>
        </p:txBody>
      </p:sp>
      <p:sp>
        <p:nvSpPr>
          <p:cNvPr id="19" name="Shape 16"/>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20" name="Text 17"/>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1" name="Text 18"/>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Previsão do sensor_1: tendência versus picos</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Comparação visual dos modelos no horizonte de 7 dias.</a:t>
            </a:r>
            <a:endParaRPr lang="en-US" sz="1250" dirty="0"/>
          </a:p>
        </p:txBody>
      </p:sp>
      <p:sp>
        <p:nvSpPr>
          <p:cNvPr id="8" name="Shape 6"/>
          <p:cNvSpPr/>
          <p:nvPr/>
        </p:nvSpPr>
        <p:spPr>
          <a:xfrm>
            <a:off x="557784" y="1426464"/>
            <a:ext cx="7891272" cy="322783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6).png"/>
          <p:cNvPicPr>
            <a:picLocks noChangeAspect="1"/>
          </p:cNvPicPr>
          <p:nvPr/>
        </p:nvPicPr>
        <p:blipFill>
          <a:blip r:embed="rId3"/>
          <a:stretch>
            <a:fillRect/>
          </a:stretch>
        </p:blipFill>
        <p:spPr>
          <a:xfrm>
            <a:off x="594360" y="1486016"/>
            <a:ext cx="7818120" cy="3108728"/>
          </a:xfrm>
          <a:prstGeom prst="rect">
            <a:avLst/>
          </a:prstGeom>
        </p:spPr>
      </p:pic>
      <p:sp>
        <p:nvSpPr>
          <p:cNvPr id="10" name="Shape 7"/>
          <p:cNvSpPr/>
          <p:nvPr/>
        </p:nvSpPr>
        <p:spPr>
          <a:xfrm>
            <a:off x="8732520" y="1508760"/>
            <a:ext cx="2743200" cy="1417320"/>
          </a:xfrm>
          <a:prstGeom prst="roundRect">
            <a:avLst/>
          </a:prstGeom>
          <a:solidFill>
            <a:srgbClr val="FFFFFF"/>
          </a:solidFill>
          <a:ln w="12700">
            <a:solidFill>
              <a:srgbClr val="E2E8F0"/>
            </a:solidFill>
            <a:prstDash val="solid"/>
          </a:ln>
        </p:spPr>
        <p:txBody>
          <a:bodyPr/>
          <a:lstStyle/>
          <a:p>
            <a:endParaRPr lang="pt-BR"/>
          </a:p>
        </p:txBody>
      </p:sp>
      <p:sp>
        <p:nvSpPr>
          <p:cNvPr id="11" name="Text 8"/>
          <p:cNvSpPr/>
          <p:nvPr/>
        </p:nvSpPr>
        <p:spPr>
          <a:xfrm>
            <a:off x="8897112" y="1645920"/>
            <a:ext cx="241401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O que o gráfico mostra?</a:t>
            </a:r>
            <a:endParaRPr lang="en-US" sz="1350" dirty="0"/>
          </a:p>
        </p:txBody>
      </p:sp>
      <p:sp>
        <p:nvSpPr>
          <p:cNvPr id="12" name="Text 9"/>
          <p:cNvSpPr/>
          <p:nvPr/>
        </p:nvSpPr>
        <p:spPr>
          <a:xfrm>
            <a:off x="8897112" y="1965960"/>
            <a:ext cx="2414016" cy="85039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Os modelos acompanham parte da tendência, mas têm dificuldade em capturar quedas e recuperações abruptas.</a:t>
            </a:r>
            <a:endParaRPr lang="en-US" sz="1220" dirty="0"/>
          </a:p>
        </p:txBody>
      </p:sp>
      <p:sp>
        <p:nvSpPr>
          <p:cNvPr id="13" name="Shape 10"/>
          <p:cNvSpPr/>
          <p:nvPr/>
        </p:nvSpPr>
        <p:spPr>
          <a:xfrm>
            <a:off x="8732520" y="3474720"/>
            <a:ext cx="2743200" cy="1188720"/>
          </a:xfrm>
          <a:prstGeom prst="roundRect">
            <a:avLst/>
          </a:prstGeom>
          <a:solidFill>
            <a:srgbClr val="EAF3FF"/>
          </a:solidFill>
          <a:ln w="12700">
            <a:solidFill>
              <a:srgbClr val="BBD7FF"/>
            </a:solidFill>
            <a:prstDash val="solid"/>
          </a:ln>
        </p:spPr>
        <p:txBody>
          <a:bodyPr/>
          <a:lstStyle/>
          <a:p>
            <a:endParaRPr lang="pt-BR"/>
          </a:p>
        </p:txBody>
      </p:sp>
      <p:sp>
        <p:nvSpPr>
          <p:cNvPr id="14" name="Text 11"/>
          <p:cNvSpPr/>
          <p:nvPr/>
        </p:nvSpPr>
        <p:spPr>
          <a:xfrm>
            <a:off x="8897112" y="3611880"/>
            <a:ext cx="241401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Interpretação simples</a:t>
            </a:r>
            <a:endParaRPr lang="en-US" sz="1350" dirty="0"/>
          </a:p>
        </p:txBody>
      </p:sp>
      <p:sp>
        <p:nvSpPr>
          <p:cNvPr id="15" name="Text 12"/>
          <p:cNvSpPr/>
          <p:nvPr/>
        </p:nvSpPr>
        <p:spPr>
          <a:xfrm>
            <a:off x="8897112" y="3931920"/>
            <a:ext cx="2414016" cy="62179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O modelo aprende o “caminho médio”, mas eventos muito rápidos são mais difíceis de prever.</a:t>
            </a:r>
            <a:endParaRPr lang="en-US" sz="1220" dirty="0"/>
          </a:p>
        </p:txBody>
      </p:sp>
      <p:sp>
        <p:nvSpPr>
          <p:cNvPr id="16" name="Shape 13"/>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7" name="Text 14"/>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8" name="Text 15"/>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Extra: prever sensor_1 usando outros sensores</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Explorando se sensores vizinhos ajudam a explicar o comportamento do sensor escolhido.</a:t>
            </a:r>
            <a:endParaRPr lang="en-US" sz="1250" dirty="0"/>
          </a:p>
        </p:txBody>
      </p:sp>
      <p:sp>
        <p:nvSpPr>
          <p:cNvPr id="8" name="Shape 6"/>
          <p:cNvSpPr/>
          <p:nvPr/>
        </p:nvSpPr>
        <p:spPr>
          <a:xfrm>
            <a:off x="832104" y="1426464"/>
            <a:ext cx="4645152" cy="1261872"/>
          </a:xfrm>
          <a:prstGeom prst="roundRect">
            <a:avLst/>
          </a:prstGeom>
          <a:solidFill>
            <a:srgbClr val="FFFFFF"/>
          </a:solidFill>
          <a:ln w="12700">
            <a:solidFill>
              <a:srgbClr val="E2E8F0"/>
            </a:solidFill>
            <a:prstDash val="solid"/>
          </a:ln>
        </p:spPr>
        <p:txBody>
          <a:bodyPr/>
          <a:lstStyle/>
          <a:p>
            <a:endParaRPr lang="pt-BR"/>
          </a:p>
        </p:txBody>
      </p:sp>
      <p:pic>
        <p:nvPicPr>
          <p:cNvPr id="9" name="Image 0" descr="/mnt/data/image(37).png"/>
          <p:cNvPicPr>
            <a:picLocks noChangeAspect="1"/>
          </p:cNvPicPr>
          <p:nvPr/>
        </p:nvPicPr>
        <p:blipFill>
          <a:blip r:embed="rId3"/>
          <a:stretch>
            <a:fillRect/>
          </a:stretch>
        </p:blipFill>
        <p:spPr>
          <a:xfrm>
            <a:off x="965552" y="1463040"/>
            <a:ext cx="4378256" cy="1188720"/>
          </a:xfrm>
          <a:prstGeom prst="rect">
            <a:avLst/>
          </a:prstGeom>
        </p:spPr>
      </p:pic>
      <p:sp>
        <p:nvSpPr>
          <p:cNvPr id="10" name="Shape 7"/>
          <p:cNvSpPr/>
          <p:nvPr/>
        </p:nvSpPr>
        <p:spPr>
          <a:xfrm>
            <a:off x="832104" y="2889504"/>
            <a:ext cx="7205472" cy="2450592"/>
          </a:xfrm>
          <a:prstGeom prst="roundRect">
            <a:avLst/>
          </a:prstGeom>
          <a:solidFill>
            <a:srgbClr val="FFFFFF"/>
          </a:solidFill>
          <a:ln w="12700">
            <a:solidFill>
              <a:srgbClr val="E2E8F0"/>
            </a:solidFill>
            <a:prstDash val="solid"/>
          </a:ln>
        </p:spPr>
        <p:txBody>
          <a:bodyPr/>
          <a:lstStyle/>
          <a:p>
            <a:endParaRPr lang="pt-BR"/>
          </a:p>
        </p:txBody>
      </p:sp>
      <p:pic>
        <p:nvPicPr>
          <p:cNvPr id="11" name="Image 1" descr="/mnt/data/image(38).png"/>
          <p:cNvPicPr>
            <a:picLocks noChangeAspect="1"/>
          </p:cNvPicPr>
          <p:nvPr/>
        </p:nvPicPr>
        <p:blipFill>
          <a:blip r:embed="rId4"/>
          <a:stretch>
            <a:fillRect/>
          </a:stretch>
        </p:blipFill>
        <p:spPr>
          <a:xfrm>
            <a:off x="1445336" y="2926080"/>
            <a:ext cx="5979009" cy="2377440"/>
          </a:xfrm>
          <a:prstGeom prst="rect">
            <a:avLst/>
          </a:prstGeom>
        </p:spPr>
      </p:pic>
      <p:sp>
        <p:nvSpPr>
          <p:cNvPr id="12" name="Shape 8"/>
          <p:cNvSpPr/>
          <p:nvPr/>
        </p:nvSpPr>
        <p:spPr>
          <a:xfrm>
            <a:off x="8366760" y="1554480"/>
            <a:ext cx="2880360" cy="1325880"/>
          </a:xfrm>
          <a:prstGeom prst="roundRect">
            <a:avLst/>
          </a:prstGeom>
          <a:solidFill>
            <a:srgbClr val="EAF3FF"/>
          </a:solidFill>
          <a:ln w="12700">
            <a:solidFill>
              <a:srgbClr val="BBD7FF"/>
            </a:solidFill>
            <a:prstDash val="solid"/>
          </a:ln>
        </p:spPr>
        <p:txBody>
          <a:bodyPr/>
          <a:lstStyle/>
          <a:p>
            <a:endParaRPr lang="pt-BR"/>
          </a:p>
        </p:txBody>
      </p:sp>
      <p:sp>
        <p:nvSpPr>
          <p:cNvPr id="13" name="Text 9"/>
          <p:cNvSpPr/>
          <p:nvPr/>
        </p:nvSpPr>
        <p:spPr>
          <a:xfrm>
            <a:off x="8531352" y="1691640"/>
            <a:ext cx="255117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Leitura</a:t>
            </a:r>
            <a:endParaRPr lang="en-US" sz="1350" dirty="0"/>
          </a:p>
        </p:txBody>
      </p:sp>
      <p:sp>
        <p:nvSpPr>
          <p:cNvPr id="14" name="Text 10"/>
          <p:cNvSpPr/>
          <p:nvPr/>
        </p:nvSpPr>
        <p:spPr>
          <a:xfrm>
            <a:off x="8531352" y="2011680"/>
            <a:ext cx="2551176" cy="75895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Ao usar outros sensores, a LSTM melhora em relação à LSTM anterior, mas ainda não supera totalmente o baseline principal.</a:t>
            </a:r>
            <a:endParaRPr lang="en-US" sz="1220" dirty="0"/>
          </a:p>
        </p:txBody>
      </p:sp>
      <p:sp>
        <p:nvSpPr>
          <p:cNvPr id="15" name="Shape 11"/>
          <p:cNvSpPr/>
          <p:nvPr/>
        </p:nvSpPr>
        <p:spPr>
          <a:xfrm>
            <a:off x="8366760" y="3337560"/>
            <a:ext cx="2880360" cy="1325880"/>
          </a:xfrm>
          <a:prstGeom prst="roundRect">
            <a:avLst/>
          </a:prstGeom>
          <a:solidFill>
            <a:srgbClr val="FFFFFF"/>
          </a:solidFill>
          <a:ln w="12700">
            <a:solidFill>
              <a:srgbClr val="E2E8F0"/>
            </a:solidFill>
            <a:prstDash val="solid"/>
          </a:ln>
        </p:spPr>
        <p:txBody>
          <a:bodyPr/>
          <a:lstStyle/>
          <a:p>
            <a:endParaRPr lang="pt-BR"/>
          </a:p>
        </p:txBody>
      </p:sp>
      <p:sp>
        <p:nvSpPr>
          <p:cNvPr id="16" name="Text 12"/>
          <p:cNvSpPr/>
          <p:nvPr/>
        </p:nvSpPr>
        <p:spPr>
          <a:xfrm>
            <a:off x="8531352" y="3474720"/>
            <a:ext cx="255117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Valor do extra</a:t>
            </a:r>
            <a:endParaRPr lang="en-US" sz="1350" dirty="0"/>
          </a:p>
        </p:txBody>
      </p:sp>
      <p:sp>
        <p:nvSpPr>
          <p:cNvPr id="17" name="Text 13"/>
          <p:cNvSpPr/>
          <p:nvPr/>
        </p:nvSpPr>
        <p:spPr>
          <a:xfrm>
            <a:off x="8531352" y="3794760"/>
            <a:ext cx="2551176" cy="75895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Mostra uma abordagem multivariada: em vez de olhar o sensor isolado, usamos o sistema como um conjunto.</a:t>
            </a:r>
            <a:endParaRPr lang="en-US" sz="1220" dirty="0"/>
          </a:p>
        </p:txBody>
      </p:sp>
      <p:sp>
        <p:nvSpPr>
          <p:cNvPr id="18" name="Shape 14"/>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9" name="Text 15"/>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0" name="Text 16"/>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Síntese dos aprendizados</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O projeto demonstra domínio técnico e capacidade de interpretação.</a:t>
            </a:r>
            <a:endParaRPr lang="en-US" sz="1250" dirty="0"/>
          </a:p>
        </p:txBody>
      </p:sp>
      <p:sp>
        <p:nvSpPr>
          <p:cNvPr id="8" name="Shape 6"/>
          <p:cNvSpPr/>
          <p:nvPr/>
        </p:nvSpPr>
        <p:spPr>
          <a:xfrm>
            <a:off x="777240" y="1280160"/>
            <a:ext cx="3291840" cy="1965960"/>
          </a:xfrm>
          <a:prstGeom prst="roundRect">
            <a:avLst/>
          </a:prstGeom>
          <a:solidFill>
            <a:srgbClr val="FFFFFF"/>
          </a:solidFill>
          <a:ln w="12700">
            <a:solidFill>
              <a:srgbClr val="E2E8F0"/>
            </a:solidFill>
            <a:prstDash val="solid"/>
          </a:ln>
        </p:spPr>
        <p:txBody>
          <a:bodyPr/>
          <a:lstStyle/>
          <a:p>
            <a:endParaRPr lang="pt-BR"/>
          </a:p>
        </p:txBody>
      </p:sp>
      <p:sp>
        <p:nvSpPr>
          <p:cNvPr id="9" name="Text 7"/>
          <p:cNvSpPr/>
          <p:nvPr/>
        </p:nvSpPr>
        <p:spPr>
          <a:xfrm>
            <a:off x="941832" y="1417320"/>
            <a:ext cx="296265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1. Dados</a:t>
            </a:r>
            <a:endParaRPr lang="en-US" sz="1350" dirty="0"/>
          </a:p>
        </p:txBody>
      </p:sp>
      <p:sp>
        <p:nvSpPr>
          <p:cNvPr id="10" name="Text 8"/>
          <p:cNvSpPr/>
          <p:nvPr/>
        </p:nvSpPr>
        <p:spPr>
          <a:xfrm>
            <a:off x="941832" y="1737360"/>
            <a:ext cx="2962656" cy="13990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A qualidade da série temporal é decisiva. Foi necessário filtrar período, consolidar frequência diária e tratar ausências.</a:t>
            </a:r>
            <a:endParaRPr lang="en-US" sz="1220" dirty="0"/>
          </a:p>
        </p:txBody>
      </p:sp>
      <p:sp>
        <p:nvSpPr>
          <p:cNvPr id="11" name="Shape 9"/>
          <p:cNvSpPr/>
          <p:nvPr/>
        </p:nvSpPr>
        <p:spPr>
          <a:xfrm>
            <a:off x="4434840" y="1280160"/>
            <a:ext cx="3291840" cy="1965960"/>
          </a:xfrm>
          <a:prstGeom prst="roundRect">
            <a:avLst/>
          </a:prstGeom>
          <a:solidFill>
            <a:srgbClr val="FFF1F2"/>
          </a:solidFill>
          <a:ln w="12700">
            <a:solidFill>
              <a:srgbClr val="FFCCD3"/>
            </a:solidFill>
            <a:prstDash val="solid"/>
          </a:ln>
        </p:spPr>
        <p:txBody>
          <a:bodyPr/>
          <a:lstStyle/>
          <a:p>
            <a:endParaRPr lang="pt-BR"/>
          </a:p>
        </p:txBody>
      </p:sp>
      <p:sp>
        <p:nvSpPr>
          <p:cNvPr id="12" name="Text 10"/>
          <p:cNvSpPr/>
          <p:nvPr/>
        </p:nvSpPr>
        <p:spPr>
          <a:xfrm>
            <a:off x="4599432" y="1417320"/>
            <a:ext cx="2962656" cy="219456"/>
          </a:xfrm>
          <a:prstGeom prst="rect">
            <a:avLst/>
          </a:prstGeom>
          <a:noFill/>
          <a:ln/>
        </p:spPr>
        <p:txBody>
          <a:bodyPr wrap="square" lIns="127" tIns="127" rIns="127" bIns="127" rtlCol="0" anchor="ctr">
            <a:normAutofit/>
          </a:bodyPr>
          <a:lstStyle/>
          <a:p>
            <a:pPr marL="0" indent="0">
              <a:buNone/>
            </a:pPr>
            <a:r>
              <a:rPr lang="en-US" sz="1350" b="1" dirty="0">
                <a:solidFill>
                  <a:srgbClr val="E30613"/>
                </a:solidFill>
              </a:rPr>
              <a:t>2. Anomalias</a:t>
            </a:r>
            <a:endParaRPr lang="en-US" sz="1350" dirty="0"/>
          </a:p>
        </p:txBody>
      </p:sp>
      <p:sp>
        <p:nvSpPr>
          <p:cNvPr id="13" name="Text 11"/>
          <p:cNvSpPr/>
          <p:nvPr/>
        </p:nvSpPr>
        <p:spPr>
          <a:xfrm>
            <a:off x="4599432" y="1737360"/>
            <a:ext cx="2962656" cy="13990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Anomalias não são apenas “erros”; podem ser sinais operacionais. Por isso foram detectadas, visualizadas e discutidas.</a:t>
            </a:r>
            <a:endParaRPr lang="en-US" sz="1220" dirty="0"/>
          </a:p>
        </p:txBody>
      </p:sp>
      <p:sp>
        <p:nvSpPr>
          <p:cNvPr id="14" name="Shape 12"/>
          <p:cNvSpPr/>
          <p:nvPr/>
        </p:nvSpPr>
        <p:spPr>
          <a:xfrm>
            <a:off x="8092440" y="1280160"/>
            <a:ext cx="3291840" cy="1965960"/>
          </a:xfrm>
          <a:prstGeom prst="roundRect">
            <a:avLst/>
          </a:prstGeom>
          <a:solidFill>
            <a:srgbClr val="EAF3FF"/>
          </a:solidFill>
          <a:ln w="12700">
            <a:solidFill>
              <a:srgbClr val="BBD7FF"/>
            </a:solidFill>
            <a:prstDash val="solid"/>
          </a:ln>
        </p:spPr>
        <p:txBody>
          <a:bodyPr/>
          <a:lstStyle/>
          <a:p>
            <a:endParaRPr lang="pt-BR"/>
          </a:p>
        </p:txBody>
      </p:sp>
      <p:sp>
        <p:nvSpPr>
          <p:cNvPr id="15" name="Text 13"/>
          <p:cNvSpPr/>
          <p:nvPr/>
        </p:nvSpPr>
        <p:spPr>
          <a:xfrm>
            <a:off x="8257032" y="1417320"/>
            <a:ext cx="296265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3. Modelos</a:t>
            </a:r>
            <a:endParaRPr lang="en-US" sz="1350" dirty="0"/>
          </a:p>
        </p:txBody>
      </p:sp>
      <p:sp>
        <p:nvSpPr>
          <p:cNvPr id="16" name="Text 14"/>
          <p:cNvSpPr/>
          <p:nvPr/>
        </p:nvSpPr>
        <p:spPr>
          <a:xfrm>
            <a:off x="8257032" y="1737360"/>
            <a:ext cx="2962656" cy="139903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Modelos complexos só fazem sentido quando superam alternativas simples. O baseline foi referência crítica.</a:t>
            </a:r>
            <a:endParaRPr lang="en-US" sz="1220" dirty="0"/>
          </a:p>
        </p:txBody>
      </p:sp>
      <p:sp>
        <p:nvSpPr>
          <p:cNvPr id="17" name="Shape 15"/>
          <p:cNvSpPr/>
          <p:nvPr/>
        </p:nvSpPr>
        <p:spPr>
          <a:xfrm>
            <a:off x="1097280" y="4069080"/>
            <a:ext cx="9921240" cy="868680"/>
          </a:xfrm>
          <a:prstGeom prst="roundRect">
            <a:avLst/>
          </a:prstGeom>
          <a:solidFill>
            <a:srgbClr val="002B5C"/>
          </a:solidFill>
          <a:ln w="12700">
            <a:solidFill>
              <a:srgbClr val="002B5C"/>
            </a:solidFill>
            <a:prstDash val="solid"/>
          </a:ln>
        </p:spPr>
        <p:txBody>
          <a:bodyPr/>
          <a:lstStyle/>
          <a:p>
            <a:endParaRPr lang="pt-BR"/>
          </a:p>
        </p:txBody>
      </p:sp>
      <p:sp>
        <p:nvSpPr>
          <p:cNvPr id="18" name="Text 16"/>
          <p:cNvSpPr/>
          <p:nvPr/>
        </p:nvSpPr>
        <p:spPr>
          <a:xfrm>
            <a:off x="1325880" y="4297680"/>
            <a:ext cx="9464040" cy="320040"/>
          </a:xfrm>
          <a:prstGeom prst="rect">
            <a:avLst/>
          </a:prstGeom>
          <a:noFill/>
          <a:ln/>
        </p:spPr>
        <p:txBody>
          <a:bodyPr wrap="square" lIns="254" tIns="254" rIns="254" bIns="254" rtlCol="0" anchor="ctr">
            <a:normAutofit fontScale="85000" lnSpcReduction="10000"/>
          </a:bodyPr>
          <a:lstStyle/>
          <a:p>
            <a:pPr marL="0" indent="0" algn="ctr">
              <a:buNone/>
            </a:pPr>
            <a:r>
              <a:rPr lang="en-US" sz="1900" b="1" dirty="0">
                <a:solidFill>
                  <a:srgbClr val="FFFFFF"/>
                </a:solidFill>
              </a:rPr>
              <a:t>Mensagem final: “A análise confiável nasce antes do modelo: nasce da preparação correta dos dados.”</a:t>
            </a:r>
            <a:endParaRPr lang="en-US" sz="1900" dirty="0"/>
          </a:p>
        </p:txBody>
      </p:sp>
      <p:sp>
        <p:nvSpPr>
          <p:cNvPr id="19" name="Shape 17"/>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20" name="Text 18"/>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21" name="Text 19"/>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02B5C"/>
          </a:solidFill>
          <a:ln w="12700">
            <a:solidFill>
              <a:srgbClr val="002B5C"/>
            </a:solidFill>
            <a:prstDash val="solid"/>
          </a:ln>
        </p:spPr>
        <p:txBody>
          <a:bodyPr/>
          <a:lstStyle/>
          <a:p>
            <a:endParaRPr lang="pt-BR"/>
          </a:p>
        </p:txBody>
      </p:sp>
      <p:sp>
        <p:nvSpPr>
          <p:cNvPr id="3" name="Shape 1"/>
          <p:cNvSpPr/>
          <p:nvPr/>
        </p:nvSpPr>
        <p:spPr>
          <a:xfrm>
            <a:off x="0" y="182880"/>
            <a:ext cx="12191695" cy="41148"/>
          </a:xfrm>
          <a:prstGeom prst="rect">
            <a:avLst/>
          </a:prstGeom>
          <a:solidFill>
            <a:srgbClr val="E30613"/>
          </a:solidFill>
          <a:ln w="12700">
            <a:solidFill>
              <a:srgbClr val="E30613"/>
            </a:solidFill>
            <a:prstDash val="solid"/>
          </a:ln>
        </p:spPr>
        <p:txBody>
          <a:bodyPr/>
          <a:lstStyle/>
          <a:p>
            <a:endParaRPr lang="pt-BR"/>
          </a:p>
        </p:txBody>
      </p:sp>
      <p:sp>
        <p:nvSpPr>
          <p:cNvPr id="4" name="Text 2"/>
          <p:cNvSpPr/>
          <p:nvPr/>
        </p:nvSpPr>
        <p:spPr>
          <a:xfrm>
            <a:off x="502920" y="274320"/>
            <a:ext cx="2926080" cy="228600"/>
          </a:xfrm>
          <a:prstGeom prst="rect">
            <a:avLst/>
          </a:prstGeom>
          <a:noFill/>
          <a:ln/>
        </p:spPr>
        <p:txBody>
          <a:bodyPr wrap="square" lIns="0" tIns="0" rIns="0" bIns="0" rtlCol="0" anchor="ctr"/>
          <a:lstStyle/>
          <a:p>
            <a:pPr marL="0" indent="0">
              <a:buNone/>
            </a:pPr>
            <a:r>
              <a:rPr lang="en-US" sz="950" b="1" dirty="0">
                <a:solidFill>
                  <a:srgbClr val="005CA9"/>
                </a:solidFill>
              </a:rPr>
              <a:t>SENAI  |  IA Aplicada</a:t>
            </a:r>
            <a:endParaRPr lang="en-US" sz="950" dirty="0"/>
          </a:p>
        </p:txBody>
      </p:sp>
      <p:sp>
        <p:nvSpPr>
          <p:cNvPr id="5" name="Text 3"/>
          <p:cNvSpPr/>
          <p:nvPr/>
        </p:nvSpPr>
        <p:spPr>
          <a:xfrm>
            <a:off x="8321040" y="274320"/>
            <a:ext cx="3383280" cy="228600"/>
          </a:xfrm>
          <a:prstGeom prst="rect">
            <a:avLst/>
          </a:prstGeom>
          <a:noFill/>
          <a:ln/>
        </p:spPr>
        <p:txBody>
          <a:bodyPr wrap="square" lIns="0" tIns="0" rIns="0" bIns="0" rtlCol="0" anchor="ctr"/>
          <a:lstStyle/>
          <a:p>
            <a:pPr marL="0" indent="0" algn="r">
              <a:buNone/>
            </a:pPr>
            <a:r>
              <a:rPr lang="en-US" sz="950" dirty="0">
                <a:solidFill>
                  <a:srgbClr val="475569"/>
                </a:solidFill>
              </a:rPr>
              <a:t>Extensômetros de Hidrelétrica</a:t>
            </a:r>
            <a:endParaRPr lang="en-US" sz="950" dirty="0"/>
          </a:p>
        </p:txBody>
      </p:sp>
      <p:sp>
        <p:nvSpPr>
          <p:cNvPr id="6" name="Text 4"/>
          <p:cNvSpPr/>
          <p:nvPr/>
        </p:nvSpPr>
        <p:spPr>
          <a:xfrm>
            <a:off x="502920" y="566928"/>
            <a:ext cx="7680960" cy="411480"/>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002B5C"/>
                </a:solidFill>
              </a:rPr>
              <a:t>Evolução para portfólio profissional</a:t>
            </a:r>
            <a:endParaRPr lang="en-US" sz="2700" dirty="0"/>
          </a:p>
        </p:txBody>
      </p:sp>
      <p:sp>
        <p:nvSpPr>
          <p:cNvPr id="7" name="Text 5"/>
          <p:cNvSpPr/>
          <p:nvPr/>
        </p:nvSpPr>
        <p:spPr>
          <a:xfrm>
            <a:off x="530352" y="1078992"/>
            <a:ext cx="8046720" cy="16459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475569"/>
                </a:solidFill>
              </a:rPr>
              <a:t>Como transformar o notebook em solução aplicável.</a:t>
            </a:r>
            <a:endParaRPr lang="en-US" sz="1250" dirty="0"/>
          </a:p>
        </p:txBody>
      </p:sp>
      <p:sp>
        <p:nvSpPr>
          <p:cNvPr id="8" name="Shape 6"/>
          <p:cNvSpPr/>
          <p:nvPr/>
        </p:nvSpPr>
        <p:spPr>
          <a:xfrm>
            <a:off x="777240" y="1463040"/>
            <a:ext cx="6583680" cy="3703320"/>
          </a:xfrm>
          <a:prstGeom prst="roundRect">
            <a:avLst/>
          </a:prstGeom>
          <a:solidFill>
            <a:srgbClr val="FFFFFF"/>
          </a:solidFill>
          <a:ln w="12700">
            <a:solidFill>
              <a:srgbClr val="E2E8F0"/>
            </a:solidFill>
            <a:prstDash val="solid"/>
          </a:ln>
        </p:spPr>
        <p:txBody>
          <a:bodyPr/>
          <a:lstStyle/>
          <a:p>
            <a:endParaRPr lang="pt-BR"/>
          </a:p>
        </p:txBody>
      </p:sp>
      <p:sp>
        <p:nvSpPr>
          <p:cNvPr id="9" name="Text 7"/>
          <p:cNvSpPr/>
          <p:nvPr/>
        </p:nvSpPr>
        <p:spPr>
          <a:xfrm>
            <a:off x="978408" y="1627632"/>
            <a:ext cx="6181344" cy="3374136"/>
          </a:xfrm>
          <a:prstGeom prst="rect">
            <a:avLst/>
          </a:prstGeom>
          <a:noFill/>
          <a:ln/>
        </p:spPr>
        <p:txBody>
          <a:bodyPr wrap="square" lIns="254" tIns="254" rIns="254" bIns="254" rtlCol="0" anchor="ctr">
            <a:normAutofit/>
          </a:bodyPr>
          <a:lstStyle/>
          <a:p>
            <a:pPr marL="0" indent="0">
              <a:buNone/>
            </a:pPr>
            <a:r>
              <a:rPr lang="en-US" sz="1500" dirty="0">
                <a:solidFill>
                  <a:srgbClr val="0F172A"/>
                </a:solidFill>
              </a:rPr>
              <a:t>1. Criar validação temporal com múltiplas janelas, não apenas uma divisão treino/teste
2. Adicionar variáveis externas: nível do reservatório, temperatura, chuva e operação da usina
3. Criar painel de monitoramento com alerta de anomalias por sensor
4. Registrar anomalias como eventos para validação com especialistas
5. Publicar notebook, apresentação e README no GitHub
</a:t>
            </a:r>
            <a:endParaRPr lang="en-US" sz="1500" dirty="0"/>
          </a:p>
        </p:txBody>
      </p:sp>
      <p:sp>
        <p:nvSpPr>
          <p:cNvPr id="10" name="Shape 8"/>
          <p:cNvSpPr/>
          <p:nvPr/>
        </p:nvSpPr>
        <p:spPr>
          <a:xfrm>
            <a:off x="7818120" y="1965960"/>
            <a:ext cx="3383280" cy="1828800"/>
          </a:xfrm>
          <a:prstGeom prst="roundRect">
            <a:avLst/>
          </a:prstGeom>
          <a:solidFill>
            <a:srgbClr val="EAF3FF"/>
          </a:solidFill>
          <a:ln w="12700">
            <a:solidFill>
              <a:srgbClr val="BBD7FF"/>
            </a:solidFill>
            <a:prstDash val="solid"/>
          </a:ln>
        </p:spPr>
        <p:txBody>
          <a:bodyPr/>
          <a:lstStyle/>
          <a:p>
            <a:endParaRPr lang="pt-BR"/>
          </a:p>
        </p:txBody>
      </p:sp>
      <p:sp>
        <p:nvSpPr>
          <p:cNvPr id="11" name="Text 9"/>
          <p:cNvSpPr/>
          <p:nvPr/>
        </p:nvSpPr>
        <p:spPr>
          <a:xfrm>
            <a:off x="7982712" y="2103120"/>
            <a:ext cx="3054096" cy="219456"/>
          </a:xfrm>
          <a:prstGeom prst="rect">
            <a:avLst/>
          </a:prstGeom>
          <a:noFill/>
          <a:ln/>
        </p:spPr>
        <p:txBody>
          <a:bodyPr wrap="square" lIns="127" tIns="127" rIns="127" bIns="127" rtlCol="0" anchor="ctr">
            <a:normAutofit/>
          </a:bodyPr>
          <a:lstStyle/>
          <a:p>
            <a:pPr marL="0" indent="0">
              <a:buNone/>
            </a:pPr>
            <a:r>
              <a:rPr lang="en-US" sz="1350" b="1" dirty="0">
                <a:solidFill>
                  <a:srgbClr val="002B5C"/>
                </a:solidFill>
              </a:rPr>
              <a:t>Visão de negócio</a:t>
            </a:r>
            <a:endParaRPr lang="en-US" sz="1350" dirty="0"/>
          </a:p>
        </p:txBody>
      </p:sp>
      <p:sp>
        <p:nvSpPr>
          <p:cNvPr id="12" name="Text 10"/>
          <p:cNvSpPr/>
          <p:nvPr/>
        </p:nvSpPr>
        <p:spPr>
          <a:xfrm>
            <a:off x="7982712" y="2423160"/>
            <a:ext cx="3054096" cy="1261872"/>
          </a:xfrm>
          <a:prstGeom prst="rect">
            <a:avLst/>
          </a:prstGeom>
          <a:noFill/>
          <a:ln/>
        </p:spPr>
        <p:txBody>
          <a:bodyPr wrap="square" lIns="254" tIns="254" rIns="254" bIns="254" rtlCol="0" anchor="t">
            <a:normAutofit/>
          </a:bodyPr>
          <a:lstStyle/>
          <a:p>
            <a:pPr marL="0" indent="0">
              <a:buNone/>
            </a:pPr>
            <a:r>
              <a:rPr lang="en-US" sz="1220" dirty="0">
                <a:solidFill>
                  <a:srgbClr val="0F172A"/>
                </a:solidFill>
              </a:rPr>
              <a:t>A entrega pode evoluir para uma solução de monitoramento preditivo com alertas, histórico de anomalias e suporte à tomada de decisão.</a:t>
            </a:r>
            <a:endParaRPr lang="en-US" sz="1220" dirty="0"/>
          </a:p>
        </p:txBody>
      </p:sp>
      <p:sp>
        <p:nvSpPr>
          <p:cNvPr id="13" name="Shape 11"/>
          <p:cNvSpPr/>
          <p:nvPr/>
        </p:nvSpPr>
        <p:spPr>
          <a:xfrm>
            <a:off x="502920" y="6510528"/>
            <a:ext cx="11155680" cy="0"/>
          </a:xfrm>
          <a:prstGeom prst="line">
            <a:avLst/>
          </a:prstGeom>
          <a:noFill/>
          <a:ln w="10160">
            <a:solidFill>
              <a:srgbClr val="E2E8F0"/>
            </a:solidFill>
            <a:prstDash val="solid"/>
          </a:ln>
        </p:spPr>
        <p:txBody>
          <a:bodyPr/>
          <a:lstStyle/>
          <a:p>
            <a:endParaRPr lang="pt-BR"/>
          </a:p>
        </p:txBody>
      </p:sp>
      <p:sp>
        <p:nvSpPr>
          <p:cNvPr id="14" name="Text 12"/>
          <p:cNvSpPr/>
          <p:nvPr/>
        </p:nvSpPr>
        <p:spPr>
          <a:xfrm>
            <a:off x="502920" y="6583680"/>
            <a:ext cx="6400800" cy="182880"/>
          </a:xfrm>
          <a:prstGeom prst="rect">
            <a:avLst/>
          </a:prstGeom>
          <a:noFill/>
          <a:ln/>
        </p:spPr>
        <p:txBody>
          <a:bodyPr wrap="square" lIns="0" tIns="0" rIns="0" bIns="0" rtlCol="0" anchor="ctr"/>
          <a:lstStyle/>
          <a:p>
            <a:pPr marL="0" indent="0">
              <a:buNone/>
            </a:pPr>
            <a:r>
              <a:rPr lang="en-US" sz="850" dirty="0">
                <a:solidFill>
                  <a:srgbClr val="475569"/>
                </a:solidFill>
              </a:rPr>
              <a:t>Marco Antônio Miranda • Projeto de Séries Temporais</a:t>
            </a:r>
            <a:endParaRPr lang="en-US" sz="850" dirty="0"/>
          </a:p>
        </p:txBody>
      </p:sp>
      <p:sp>
        <p:nvSpPr>
          <p:cNvPr id="15" name="Text 13"/>
          <p:cNvSpPr/>
          <p:nvPr/>
        </p:nvSpPr>
        <p:spPr>
          <a:xfrm>
            <a:off x="11201400" y="6565392"/>
            <a:ext cx="457200" cy="228600"/>
          </a:xfrm>
          <a:prstGeom prst="rect">
            <a:avLst/>
          </a:prstGeom>
          <a:noFill/>
          <a:ln/>
        </p:spPr>
        <p:txBody>
          <a:bodyPr wrap="square" lIns="0" tIns="0" rIns="0" bIns="0" rtlCol="0" anchor="ctr"/>
          <a:lstStyle/>
          <a:p>
            <a:pPr marL="0" indent="0" algn="r">
              <a:buNone/>
            </a:pPr>
            <a:r>
              <a:rPr lang="en-US" sz="850" dirty="0">
                <a:solidFill>
                  <a:srgbClr val="475569"/>
                </a:solidFill>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E30613"/>
          </a:solidFill>
          <a:ln w="12700">
            <a:solidFill>
              <a:srgbClr val="E30613"/>
            </a:solidFill>
            <a:prstDash val="solid"/>
          </a:ln>
        </p:spPr>
        <p:txBody>
          <a:bodyPr/>
          <a:lstStyle/>
          <a:p>
            <a:endParaRPr lang="pt-BR"/>
          </a:p>
        </p:txBody>
      </p:sp>
      <p:sp>
        <p:nvSpPr>
          <p:cNvPr id="3" name="Text 1"/>
          <p:cNvSpPr/>
          <p:nvPr/>
        </p:nvSpPr>
        <p:spPr>
          <a:xfrm>
            <a:off x="685800" y="1417320"/>
            <a:ext cx="5029200" cy="640080"/>
          </a:xfrm>
          <a:prstGeom prst="rect">
            <a:avLst/>
          </a:prstGeom>
          <a:noFill/>
          <a:ln/>
        </p:spPr>
        <p:txBody>
          <a:bodyPr wrap="square" lIns="0" tIns="0" rIns="0" bIns="0" rtlCol="0" anchor="ctr"/>
          <a:lstStyle/>
          <a:p>
            <a:pPr marL="0" indent="0">
              <a:buNone/>
            </a:pPr>
            <a:r>
              <a:rPr lang="en-US" sz="4800" b="1" dirty="0">
                <a:solidFill>
                  <a:srgbClr val="FFFFFF"/>
                </a:solidFill>
              </a:rPr>
              <a:t>Obrigado!</a:t>
            </a:r>
            <a:endParaRPr lang="en-US" sz="4800" dirty="0"/>
          </a:p>
        </p:txBody>
      </p:sp>
      <p:sp>
        <p:nvSpPr>
          <p:cNvPr id="4" name="Text 2"/>
          <p:cNvSpPr/>
          <p:nvPr/>
        </p:nvSpPr>
        <p:spPr>
          <a:xfrm>
            <a:off x="713232" y="2331720"/>
            <a:ext cx="4206240" cy="365760"/>
          </a:xfrm>
          <a:prstGeom prst="rect">
            <a:avLst/>
          </a:prstGeom>
          <a:noFill/>
          <a:ln/>
        </p:spPr>
        <p:txBody>
          <a:bodyPr wrap="square" lIns="0" tIns="0" rIns="0" bIns="0" rtlCol="0" anchor="ctr"/>
          <a:lstStyle/>
          <a:p>
            <a:pPr marL="0" indent="0">
              <a:buNone/>
            </a:pPr>
            <a:r>
              <a:rPr lang="en-US" sz="2200" dirty="0">
                <a:solidFill>
                  <a:srgbClr val="DDEBFF"/>
                </a:solidFill>
              </a:rPr>
              <a:t>Perguntas e discussão</a:t>
            </a:r>
            <a:endParaRPr lang="en-US" sz="2200" dirty="0"/>
          </a:p>
        </p:txBody>
      </p:sp>
      <p:sp>
        <p:nvSpPr>
          <p:cNvPr id="5" name="Text 3"/>
          <p:cNvSpPr/>
          <p:nvPr/>
        </p:nvSpPr>
        <p:spPr>
          <a:xfrm>
            <a:off x="731520" y="6263640"/>
            <a:ext cx="5029200" cy="274320"/>
          </a:xfrm>
          <a:prstGeom prst="rect">
            <a:avLst/>
          </a:prstGeom>
          <a:noFill/>
          <a:ln/>
        </p:spPr>
        <p:txBody>
          <a:bodyPr wrap="square" lIns="0" tIns="0" rIns="0" bIns="0" rtlCol="0" anchor="ctr"/>
          <a:lstStyle/>
          <a:p>
            <a:pPr marL="0" indent="0">
              <a:buNone/>
            </a:pPr>
            <a:r>
              <a:rPr lang="en-US" sz="1200" dirty="0">
                <a:solidFill>
                  <a:srgbClr val="DDEBFF"/>
                </a:solidFill>
              </a:rPr>
              <a:t>Análise de Séries Temporais em Extensômetros de Hidrelétrica</a:t>
            </a:r>
            <a:endParaRPr lang="en-US" sz="1200" dirty="0"/>
          </a:p>
        </p:txBody>
      </p:sp>
      <p:pic>
        <p:nvPicPr>
          <p:cNvPr id="6" name="Image 0" descr="/mnt/data/wide_clean_modern_technical_infographic_presen.png"/>
          <p:cNvPicPr>
            <a:picLocks noChangeAspect="1"/>
          </p:cNvPicPr>
          <p:nvPr/>
        </p:nvPicPr>
        <p:blipFill>
          <a:blip r:embed="rId3"/>
          <a:srcRect l="70000" t="50000" r="-22195" b="-50000"/>
          <a:stretch/>
        </p:blipFill>
        <p:spPr>
          <a:xfrm>
            <a:off x="6172200" y="502920"/>
            <a:ext cx="5257800" cy="5669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2956</Words>
  <Application>Microsoft Office PowerPoint</Application>
  <PresentationFormat>Widescreen</PresentationFormat>
  <Paragraphs>193</Paragraphs>
  <Slides>16</Slides>
  <Notes>16</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16</vt:i4>
      </vt:variant>
    </vt:vector>
  </HeadingPairs>
  <TitlesOfParts>
    <vt:vector size="18" baseType="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SENAI | IA Aplicada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Análise de Séries Temporais em Extensômetros de Hidrelétrica</dc:title>
  <dc:subject>Análise de séries temporais em extensômetros de hidrelétrica</dc:subject>
  <dc:creator>Marco Antônio Miranda</dc:creator>
  <cp:lastModifiedBy>Marco Antonio Miranda</cp:lastModifiedBy>
  <cp:revision>1</cp:revision>
  <dcterms:created xsi:type="dcterms:W3CDTF">2026-04-28T13:24:26Z</dcterms:created>
  <dcterms:modified xsi:type="dcterms:W3CDTF">2026-04-28T13:39:13Z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dc542d3-6316-42ad-9eaa-e82fa419e5f2_Enabled">
    <vt:lpwstr>true</vt:lpwstr>
  </property>
  <property fmtid="{D5CDD505-2E9C-101B-9397-08002B2CF9AE}" pid="3" name="MSIP_Label_3dc542d3-6316-42ad-9eaa-e82fa419e5f2_SetDate">
    <vt:lpwstr>2026-04-28T13:36:46Z</vt:lpwstr>
  </property>
  <property fmtid="{D5CDD505-2E9C-101B-9397-08002B2CF9AE}" pid="4" name="MSIP_Label_3dc542d3-6316-42ad-9eaa-e82fa419e5f2_Method">
    <vt:lpwstr>Standard</vt:lpwstr>
  </property>
  <property fmtid="{D5CDD505-2E9C-101B-9397-08002B2CF9AE}" pid="5" name="MSIP_Label_3dc542d3-6316-42ad-9eaa-e82fa419e5f2_Name">
    <vt:lpwstr>3dc542d3-6316-42ad-9eaa-e82fa419e5f2</vt:lpwstr>
  </property>
  <property fmtid="{D5CDD505-2E9C-101B-9397-08002B2CF9AE}" pid="6" name="MSIP_Label_3dc542d3-6316-42ad-9eaa-e82fa419e5f2_SiteId">
    <vt:lpwstr>a7cdc447-3b29-4b41-b73e-8a2cb54b06c6</vt:lpwstr>
  </property>
  <property fmtid="{D5CDD505-2E9C-101B-9397-08002B2CF9AE}" pid="7" name="MSIP_Label_3dc542d3-6316-42ad-9eaa-e82fa419e5f2_ActionId">
    <vt:lpwstr>6f8fdc9d-2479-4c5b-8a93-0ea72407839f</vt:lpwstr>
  </property>
  <property fmtid="{D5CDD505-2E9C-101B-9397-08002B2CF9AE}" pid="8" name="MSIP_Label_3dc542d3-6316-42ad-9eaa-e82fa419e5f2_ContentBits">
    <vt:lpwstr>0</vt:lpwstr>
  </property>
  <property fmtid="{D5CDD505-2E9C-101B-9397-08002B2CF9AE}" pid="9" name="MSIP_Label_3dc542d3-6316-42ad-9eaa-e82fa419e5f2_Tag">
    <vt:lpwstr>10, 3, 0, 1</vt:lpwstr>
  </property>
</Properties>
</file>